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9" r:id="rId7"/>
    <p:sldId id="258" r:id="rId8"/>
    <p:sldId id="260" r:id="rId9"/>
    <p:sldId id="263" r:id="rId10"/>
    <p:sldId id="261" r:id="rId11"/>
    <p:sldId id="262" r:id="rId12"/>
    <p:sldId id="264" r:id="rId13"/>
    <p:sldId id="265" r:id="rId14"/>
    <p:sldId id="268" r:id="rId15"/>
    <p:sldId id="266" r:id="rId16"/>
    <p:sldId id="267" r:id="rId17"/>
    <p:sldId id="269" r:id="rId18"/>
    <p:sldId id="272" r:id="rId19"/>
    <p:sldId id="273" r:id="rId20"/>
    <p:sldId id="274" r:id="rId21"/>
    <p:sldId id="275" r:id="rId22"/>
    <p:sldId id="276" r:id="rId23"/>
    <p:sldId id="277" r:id="rId24"/>
    <p:sldId id="278" r:id="rId25"/>
    <p:sldId id="279" r:id="rId26"/>
    <p:sldId id="280" r:id="rId27"/>
    <p:sldId id="283" r:id="rId28"/>
    <p:sldId id="282" r:id="rId29"/>
    <p:sldId id="281" r:id="rId30"/>
    <p:sldId id="284" r:id="rId31"/>
    <p:sldId id="285" r:id="rId32"/>
    <p:sldId id="286" r:id="rId3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D6AC59-3110-416F-AEE8-18F9CF92C239}" v="97" dt="2026-01-23T00:30:44.158"/>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810" y="4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812BAF-1F2E-F8E7-CD52-9F70E324E229}"/>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59076DD8-A4D8-D6CF-3229-D4AE720983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7BABC9E8-2BF9-ACA0-55E9-8E712520F846}"/>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5" name="Segnaposto piè di pagina 4">
            <a:extLst>
              <a:ext uri="{FF2B5EF4-FFF2-40B4-BE49-F238E27FC236}">
                <a16:creationId xmlns:a16="http://schemas.microsoft.com/office/drawing/2014/main" id="{6843905D-EB0A-A593-2C01-1E72766A445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DE76F23-5E9D-E6EC-9737-1803752928C6}"/>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117466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F8D28B2-8A3E-0B15-596A-CA934280C861}"/>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56E14E18-5C62-E330-5B5C-75318E8F8E3C}"/>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DA123AA-2608-9A5D-D69D-DF6AA54E92D7}"/>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5" name="Segnaposto piè di pagina 4">
            <a:extLst>
              <a:ext uri="{FF2B5EF4-FFF2-40B4-BE49-F238E27FC236}">
                <a16:creationId xmlns:a16="http://schemas.microsoft.com/office/drawing/2014/main" id="{B7FF8996-FC82-047C-A238-71091DF27A3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73BF146-3DF5-CEB4-2B4F-924B3D15CA84}"/>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1164235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25784E-D2AA-E91E-708E-EF8F53050E5F}"/>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BF42EA7-8EEE-680A-3231-1F031FAE25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8405ABF-7491-2594-CF54-16C8F03F4880}"/>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5" name="Segnaposto piè di pagina 4">
            <a:extLst>
              <a:ext uri="{FF2B5EF4-FFF2-40B4-BE49-F238E27FC236}">
                <a16:creationId xmlns:a16="http://schemas.microsoft.com/office/drawing/2014/main" id="{F02E7D2A-8A71-FDAF-8180-DBD273C7751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6383C1C-B597-5DAE-380C-91BE07B427D3}"/>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1767021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517DF5-1C77-8C58-D428-94765ADF1956}"/>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D880776-E431-E7D8-C1E1-3EE168B2F6F8}"/>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2A4C357-4A09-168B-613F-E0C5718EE13A}"/>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584EC10-961C-B82F-25AF-62F1EF66E54E}"/>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6" name="Segnaposto piè di pagina 5">
            <a:extLst>
              <a:ext uri="{FF2B5EF4-FFF2-40B4-BE49-F238E27FC236}">
                <a16:creationId xmlns:a16="http://schemas.microsoft.com/office/drawing/2014/main" id="{4CBF94DA-5B98-79EB-5837-AC6C8DA8A85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6BFD8DA-0B8A-A4A6-877D-3A06E2818C8C}"/>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3617662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74FA6A-8F4C-1A63-81B7-5CC7FFE9C48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36D8E32-53D9-5451-4975-A34CDA86E6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AEE8F24C-78CB-999D-3053-F941753AC5B4}"/>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6E0B21FB-6998-346B-3400-D5B66E256D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7CADB4A3-5ED7-3828-9E7F-355247EC8448}"/>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48F53F15-DCAB-0FEF-A087-9B38DB61F137}"/>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8" name="Segnaposto piè di pagina 7">
            <a:extLst>
              <a:ext uri="{FF2B5EF4-FFF2-40B4-BE49-F238E27FC236}">
                <a16:creationId xmlns:a16="http://schemas.microsoft.com/office/drawing/2014/main" id="{74887F5F-0109-E73C-FBB8-AABB28616F8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F78748E-7129-538B-57D9-119B04B4B967}"/>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61798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F16B76-834A-BDEC-3FFC-B815C4C8ED2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F524E7F4-5FE4-A174-2A86-AE9FC79C3CBF}"/>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4" name="Segnaposto piè di pagina 3">
            <a:extLst>
              <a:ext uri="{FF2B5EF4-FFF2-40B4-BE49-F238E27FC236}">
                <a16:creationId xmlns:a16="http://schemas.microsoft.com/office/drawing/2014/main" id="{9FF7ACE2-3CE7-AD6C-C6C4-4DCFAF0F9E98}"/>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75EC740-2897-050D-6D00-4C596E65D1F6}"/>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495758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73F3EB0-7E01-09B1-DC9A-50B1BD952606}"/>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3" name="Segnaposto piè di pagina 2">
            <a:extLst>
              <a:ext uri="{FF2B5EF4-FFF2-40B4-BE49-F238E27FC236}">
                <a16:creationId xmlns:a16="http://schemas.microsoft.com/office/drawing/2014/main" id="{457DE48B-705D-B4DD-D1A0-10EC3C41DAD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2E81FF25-8912-7ABF-8F9B-9DF59F056D28}"/>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37733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9ED0EB-FC7C-454B-557D-87CE710B7BB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853654E-782E-283F-49BF-75E3781E81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2FE0A2EF-E3F9-0BE6-F9DB-96081ACA3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624A3D2-5FAD-ED33-8916-B23EEAF003C2}"/>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6" name="Segnaposto piè di pagina 5">
            <a:extLst>
              <a:ext uri="{FF2B5EF4-FFF2-40B4-BE49-F238E27FC236}">
                <a16:creationId xmlns:a16="http://schemas.microsoft.com/office/drawing/2014/main" id="{02D9A117-E874-8F95-0AED-770F843AAF9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99CFD3C-A65E-9B86-FEA7-51A3F31A8E27}"/>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1943435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BB2B149-90B6-BFEC-95E8-501887D2736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90EE1351-58E1-1011-DE6A-95045668ED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FC0DAD3E-42BB-EA3E-33F2-5FFF75341E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07A40A9-D110-6586-1D9A-F18AB96FF57C}"/>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6" name="Segnaposto piè di pagina 5">
            <a:extLst>
              <a:ext uri="{FF2B5EF4-FFF2-40B4-BE49-F238E27FC236}">
                <a16:creationId xmlns:a16="http://schemas.microsoft.com/office/drawing/2014/main" id="{B7C314AC-2511-E5CA-2175-E387F1A1AF1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AAF984D-2105-10F6-16DB-9C15B100DB5A}"/>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433240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1D0254-4330-1456-A6CD-E8035D9FC2E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9CC74272-8D17-143A-9B0E-15209E75D1FB}"/>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8C05B8E-E2F6-76F8-0E63-41FF5FBBA263}"/>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5" name="Segnaposto piè di pagina 4">
            <a:extLst>
              <a:ext uri="{FF2B5EF4-FFF2-40B4-BE49-F238E27FC236}">
                <a16:creationId xmlns:a16="http://schemas.microsoft.com/office/drawing/2014/main" id="{8E7E5497-4B8F-C01D-7ADB-0ED4DB8FCA2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EF1EB6C-7CF9-9D59-93D7-8CF79A3CB5DB}"/>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3540065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B65369FF-F41F-10E0-64EC-36CD6B9EFA5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EE17E5AA-B937-DF27-87A6-06FF6F01BC9A}"/>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7BFE5AC-67D8-45C7-1004-A4C33956ECE9}"/>
              </a:ext>
            </a:extLst>
          </p:cNvPr>
          <p:cNvSpPr>
            <a:spLocks noGrp="1"/>
          </p:cNvSpPr>
          <p:nvPr>
            <p:ph type="dt" sz="half" idx="10"/>
          </p:nvPr>
        </p:nvSpPr>
        <p:spPr/>
        <p:txBody>
          <a:bodyPr/>
          <a:lstStyle/>
          <a:p>
            <a:fld id="{5F277B7D-B9B2-48B2-924C-34B4DD791497}" type="datetimeFigureOut">
              <a:rPr lang="it-IT" smtClean="0"/>
              <a:t>21/01/2026</a:t>
            </a:fld>
            <a:endParaRPr lang="it-IT"/>
          </a:p>
        </p:txBody>
      </p:sp>
      <p:sp>
        <p:nvSpPr>
          <p:cNvPr id="5" name="Segnaposto piè di pagina 4">
            <a:extLst>
              <a:ext uri="{FF2B5EF4-FFF2-40B4-BE49-F238E27FC236}">
                <a16:creationId xmlns:a16="http://schemas.microsoft.com/office/drawing/2014/main" id="{7E759268-8D23-70EF-C02D-09942C5FB5E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AD4DB9E-01A3-6F71-EA54-7AAF7DE44BA6}"/>
              </a:ext>
            </a:extLst>
          </p:cNvPr>
          <p:cNvSpPr>
            <a:spLocks noGrp="1"/>
          </p:cNvSpPr>
          <p:nvPr>
            <p:ph type="sldNum" sz="quarter" idx="12"/>
          </p:nvPr>
        </p:nvSpPr>
        <p:spPr/>
        <p:txBody>
          <a:bodyPr/>
          <a:lstStyle/>
          <a:p>
            <a:fld id="{18BB9122-663D-45FF-9A16-F52C95A8581C}" type="slidenum">
              <a:rPr lang="it-IT" smtClean="0"/>
              <a:t>‹N›</a:t>
            </a:fld>
            <a:endParaRPr lang="it-IT"/>
          </a:p>
        </p:txBody>
      </p:sp>
    </p:spTree>
    <p:extLst>
      <p:ext uri="{BB962C8B-B14F-4D97-AF65-F5344CB8AC3E}">
        <p14:creationId xmlns:p14="http://schemas.microsoft.com/office/powerpoint/2010/main" val="1428329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5DF0371-7BD7-8C93-6BC2-92B088BD14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84059BF1-DF23-D837-8135-34E9391F03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16D6256-8F18-601E-EFE9-F40DB42293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277B7D-B9B2-48B2-924C-34B4DD791497}" type="datetimeFigureOut">
              <a:rPr lang="it-IT" smtClean="0"/>
              <a:t>21/01/2026</a:t>
            </a:fld>
            <a:endParaRPr lang="it-IT"/>
          </a:p>
        </p:txBody>
      </p:sp>
      <p:sp>
        <p:nvSpPr>
          <p:cNvPr id="5" name="Segnaposto piè di pagina 4">
            <a:extLst>
              <a:ext uri="{FF2B5EF4-FFF2-40B4-BE49-F238E27FC236}">
                <a16:creationId xmlns:a16="http://schemas.microsoft.com/office/drawing/2014/main" id="{8478429B-9888-027F-03D2-3C0F8D11CD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161E0E75-BA5F-27FB-FA65-83D6C19176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BB9122-663D-45FF-9A16-F52C95A8581C}" type="slidenum">
              <a:rPr lang="it-IT" smtClean="0"/>
              <a:t>‹N›</a:t>
            </a:fld>
            <a:endParaRPr lang="it-IT"/>
          </a:p>
        </p:txBody>
      </p:sp>
    </p:spTree>
    <p:extLst>
      <p:ext uri="{BB962C8B-B14F-4D97-AF65-F5344CB8AC3E}">
        <p14:creationId xmlns:p14="http://schemas.microsoft.com/office/powerpoint/2010/main" val="3397565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egesia1/5-points-stencil" TargetMode="External"/><Relationship Id="rId2" Type="http://schemas.openxmlformats.org/officeDocument/2006/relationships/hyperlink" Target="https://github.com/Foundations-of-HPC/High-Performance-Computing-2024" TargetMode="External"/><Relationship Id="rId1" Type="http://schemas.openxmlformats.org/officeDocument/2006/relationships/slideLayout" Target="../slideLayouts/slideLayout1.xml"/><Relationship Id="rId6" Type="http://schemas.openxmlformats.org/officeDocument/2006/relationships/hyperlink" Target="https://leonardo-supercomputer.cineca.eu/it/leonardo-hpc-system/" TargetMode="External"/><Relationship Id="rId5" Type="http://schemas.openxmlformats.org/officeDocument/2006/relationships/hyperlink" Target="https://www.openmp.org/" TargetMode="External"/><Relationship Id="rId4" Type="http://schemas.openxmlformats.org/officeDocument/2006/relationships/hyperlink" Target="https://www.mpi-forum.org/docs/mpi-5.0/mpi50-report.pdf"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A96D1A-22D8-1645-AA5B-FF032DFA7743}"/>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Distributed Stencil Performance Analysis</a:t>
            </a:r>
          </a:p>
        </p:txBody>
      </p:sp>
      <p:sp>
        <p:nvSpPr>
          <p:cNvPr id="3" name="Sottotitolo 2">
            <a:extLst>
              <a:ext uri="{FF2B5EF4-FFF2-40B4-BE49-F238E27FC236}">
                <a16:creationId xmlns:a16="http://schemas.microsoft.com/office/drawing/2014/main" id="{24327334-580D-E3B6-1733-E8E7D4BB25A1}"/>
              </a:ext>
            </a:extLst>
          </p:cNvPr>
          <p:cNvSpPr>
            <a:spLocks noGrp="1"/>
          </p:cNvSpPr>
          <p:nvPr>
            <p:ph type="subTitle" idx="1"/>
          </p:nvPr>
        </p:nvSpPr>
        <p:spPr>
          <a:xfrm>
            <a:off x="1524000" y="2091448"/>
            <a:ext cx="9144000" cy="1687001"/>
          </a:xfrm>
        </p:spPr>
        <p:txBody>
          <a:bodyPr>
            <a:normAutofit/>
          </a:bodyPr>
          <a:lstStyle/>
          <a:p>
            <a:pPr>
              <a:lnSpc>
                <a:spcPct val="120000"/>
              </a:lnSpc>
              <a:spcBef>
                <a:spcPts val="0"/>
              </a:spcBef>
              <a:spcAft>
                <a:spcPts val="1800"/>
              </a:spcAft>
            </a:pPr>
            <a:r>
              <a:rPr lang="en-GB" sz="3200" noProof="0" dirty="0"/>
              <a:t>High Performance Computing</a:t>
            </a:r>
            <a:br>
              <a:rPr lang="en-GB" noProof="0" dirty="0"/>
            </a:br>
            <a:r>
              <a:rPr lang="en-GB" sz="2000" noProof="0" dirty="0"/>
              <a:t>297SM</a:t>
            </a:r>
          </a:p>
          <a:p>
            <a:pPr>
              <a:lnSpc>
                <a:spcPct val="120000"/>
              </a:lnSpc>
              <a:spcBef>
                <a:spcPts val="0"/>
              </a:spcBef>
              <a:spcAft>
                <a:spcPts val="1800"/>
              </a:spcAft>
            </a:pPr>
            <a:r>
              <a:rPr lang="en-GB" sz="2000" noProof="0" dirty="0"/>
              <a:t>23/01/2026</a:t>
            </a:r>
          </a:p>
        </p:txBody>
      </p:sp>
      <p:pic>
        <p:nvPicPr>
          <p:cNvPr id="5" name="Immagine 4" descr="Immagine che contiene emblema, simbolo, logo, Marchio&#10;&#10;Il contenuto generato dall'IA potrebbe non essere corretto.">
            <a:extLst>
              <a:ext uri="{FF2B5EF4-FFF2-40B4-BE49-F238E27FC236}">
                <a16:creationId xmlns:a16="http://schemas.microsoft.com/office/drawing/2014/main" id="{434297FF-9C14-D5EE-765F-E95AC991954A}"/>
              </a:ext>
            </a:extLst>
          </p:cNvPr>
          <p:cNvPicPr>
            <a:picLocks noChangeAspect="1"/>
          </p:cNvPicPr>
          <p:nvPr/>
        </p:nvPicPr>
        <p:blipFill>
          <a:blip r:embed="rId2"/>
          <a:stretch>
            <a:fillRect/>
          </a:stretch>
        </p:blipFill>
        <p:spPr>
          <a:xfrm>
            <a:off x="5241767" y="4092485"/>
            <a:ext cx="1708463" cy="1687000"/>
          </a:xfrm>
          <a:prstGeom prst="rect">
            <a:avLst/>
          </a:prstGeom>
        </p:spPr>
      </p:pic>
      <p:sp>
        <p:nvSpPr>
          <p:cNvPr id="6" name="CasellaDiTesto 5">
            <a:extLst>
              <a:ext uri="{FF2B5EF4-FFF2-40B4-BE49-F238E27FC236}">
                <a16:creationId xmlns:a16="http://schemas.microsoft.com/office/drawing/2014/main" id="{15890337-3D5D-5DDA-CA6D-BCDE90199F35}"/>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7" name="CasellaDiTesto 6">
            <a:extLst>
              <a:ext uri="{FF2B5EF4-FFF2-40B4-BE49-F238E27FC236}">
                <a16:creationId xmlns:a16="http://schemas.microsoft.com/office/drawing/2014/main" id="{4C8751B0-F871-03E6-07E4-FAE8AC96D52E}"/>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8" name="CasellaDiTesto 7">
            <a:extLst>
              <a:ext uri="{FF2B5EF4-FFF2-40B4-BE49-F238E27FC236}">
                <a16:creationId xmlns:a16="http://schemas.microsoft.com/office/drawing/2014/main" id="{6A7ACCA0-950E-9D4B-543A-CB59B9113A34}"/>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9" name="CasellaDiTesto 8">
            <a:extLst>
              <a:ext uri="{FF2B5EF4-FFF2-40B4-BE49-F238E27FC236}">
                <a16:creationId xmlns:a16="http://schemas.microsoft.com/office/drawing/2014/main" id="{CEF53B48-0152-4C9B-EC93-82AC1A999CB7}"/>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a:t>
            </a:fld>
            <a:r>
              <a:rPr lang="en-GB" sz="1100" noProof="0" dirty="0"/>
              <a:t>/29</a:t>
            </a:r>
          </a:p>
        </p:txBody>
      </p:sp>
    </p:spTree>
    <p:extLst>
      <p:ext uri="{BB962C8B-B14F-4D97-AF65-F5344CB8AC3E}">
        <p14:creationId xmlns:p14="http://schemas.microsoft.com/office/powerpoint/2010/main" val="330541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389A9-838B-0406-8895-0C9A51716922}"/>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AB067A90-430C-2912-BCCD-3DA1AB2A6B3D}"/>
              </a:ext>
            </a:extLst>
          </p:cNvPr>
          <p:cNvSpPr>
            <a:spLocks noGrp="1"/>
          </p:cNvSpPr>
          <p:nvPr>
            <p:ph type="subTitle" idx="1"/>
          </p:nvPr>
        </p:nvSpPr>
        <p:spPr>
          <a:xfrm>
            <a:off x="822034" y="1657339"/>
            <a:ext cx="10547928" cy="4318588"/>
          </a:xfrm>
        </p:spPr>
        <p:txBody>
          <a:bodyPr>
            <a:normAutofit/>
          </a:bodyPr>
          <a:lstStyle/>
          <a:p>
            <a:pPr marL="457200" indent="-457200" algn="l">
              <a:lnSpc>
                <a:spcPct val="120000"/>
              </a:lnSpc>
              <a:spcBef>
                <a:spcPts val="0"/>
              </a:spcBef>
              <a:spcAft>
                <a:spcPts val="1800"/>
              </a:spcAft>
              <a:buFont typeface="Arial" panose="020B0604020202020204" pitchFamily="34" charset="0"/>
              <a:buChar char="•"/>
            </a:pPr>
            <a:r>
              <a:rPr lang="en-GB" noProof="0" dirty="0"/>
              <a:t>Implement a parallel 5-point stencil to compute heat diffusion computation</a:t>
            </a:r>
          </a:p>
          <a:p>
            <a:pPr marL="457200" indent="-457200" algn="l">
              <a:lnSpc>
                <a:spcPct val="120000"/>
              </a:lnSpc>
              <a:spcBef>
                <a:spcPts val="0"/>
              </a:spcBef>
              <a:spcAft>
                <a:spcPts val="1800"/>
              </a:spcAft>
              <a:buFont typeface="Arial" panose="020B0604020202020204" pitchFamily="34" charset="0"/>
              <a:buChar char="•"/>
            </a:pPr>
            <a:r>
              <a:rPr lang="en-GB" noProof="0" dirty="0"/>
              <a:t>Parallelize C code, combining the advantage of </a:t>
            </a:r>
            <a:r>
              <a:rPr lang="en-GB" b="1" noProof="0" dirty="0"/>
              <a:t>MPI</a:t>
            </a:r>
            <a:r>
              <a:rPr lang="en-GB" noProof="0" dirty="0"/>
              <a:t> for distributed memory communications and </a:t>
            </a:r>
            <a:r>
              <a:rPr lang="en-GB" b="1" noProof="0" dirty="0" err="1"/>
              <a:t>OpenMPI</a:t>
            </a:r>
            <a:r>
              <a:rPr lang="en-GB" noProof="0" dirty="0"/>
              <a:t> directives for shared memory.</a:t>
            </a:r>
          </a:p>
          <a:p>
            <a:pPr marL="457200" indent="-457200" algn="l">
              <a:lnSpc>
                <a:spcPct val="120000"/>
              </a:lnSpc>
              <a:spcBef>
                <a:spcPts val="0"/>
              </a:spcBef>
              <a:spcAft>
                <a:spcPts val="1800"/>
              </a:spcAft>
              <a:buFont typeface="Arial" panose="020B0604020202020204" pitchFamily="34" charset="0"/>
              <a:buChar char="•"/>
            </a:pPr>
            <a:r>
              <a:rPr lang="en-GB" noProof="0" dirty="0"/>
              <a:t>Conduct scalability analysis in a </a:t>
            </a:r>
            <a:r>
              <a:rPr lang="en-GB" b="1" noProof="0" dirty="0"/>
              <a:t>Leonardo - </a:t>
            </a:r>
            <a:r>
              <a:rPr lang="en-GB" b="1" noProof="0" dirty="0" err="1"/>
              <a:t>Cineca</a:t>
            </a:r>
            <a:r>
              <a:rPr lang="en-GB" noProof="0" dirty="0"/>
              <a:t> High Performance / Productivity environment.</a:t>
            </a:r>
            <a:endParaRPr lang="en-GB" sz="1600" noProof="0" dirty="0"/>
          </a:p>
        </p:txBody>
      </p:sp>
      <p:sp>
        <p:nvSpPr>
          <p:cNvPr id="12" name="Titolo 1">
            <a:extLst>
              <a:ext uri="{FF2B5EF4-FFF2-40B4-BE49-F238E27FC236}">
                <a16:creationId xmlns:a16="http://schemas.microsoft.com/office/drawing/2014/main" id="{28A98778-39B4-F162-C1BF-00C4AD157494}"/>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Goal of the Assignment</a:t>
            </a:r>
          </a:p>
        </p:txBody>
      </p:sp>
      <p:sp>
        <p:nvSpPr>
          <p:cNvPr id="13" name="CasellaDiTesto 12">
            <a:extLst>
              <a:ext uri="{FF2B5EF4-FFF2-40B4-BE49-F238E27FC236}">
                <a16:creationId xmlns:a16="http://schemas.microsoft.com/office/drawing/2014/main" id="{95F5ECF7-8DA5-B1EF-9F40-D6694EA54BC9}"/>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4" name="CasellaDiTesto 13">
            <a:extLst>
              <a:ext uri="{FF2B5EF4-FFF2-40B4-BE49-F238E27FC236}">
                <a16:creationId xmlns:a16="http://schemas.microsoft.com/office/drawing/2014/main" id="{552A58B1-CC14-E20B-CEE4-9675720E614D}"/>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5" name="CasellaDiTesto 14">
            <a:extLst>
              <a:ext uri="{FF2B5EF4-FFF2-40B4-BE49-F238E27FC236}">
                <a16:creationId xmlns:a16="http://schemas.microsoft.com/office/drawing/2014/main" id="{9E7C3C4D-F364-44BE-306F-91D50F22DBEB}"/>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6" name="CasellaDiTesto 15">
            <a:extLst>
              <a:ext uri="{FF2B5EF4-FFF2-40B4-BE49-F238E27FC236}">
                <a16:creationId xmlns:a16="http://schemas.microsoft.com/office/drawing/2014/main" id="{A43749A0-EA8B-5AEC-213E-94CFE82B4DC8}"/>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a:t>
            </a:fld>
            <a:r>
              <a:rPr lang="en-GB" sz="1100" noProof="0" dirty="0"/>
              <a:t>/29</a:t>
            </a:r>
          </a:p>
        </p:txBody>
      </p:sp>
    </p:spTree>
    <p:extLst>
      <p:ext uri="{BB962C8B-B14F-4D97-AF65-F5344CB8AC3E}">
        <p14:creationId xmlns:p14="http://schemas.microsoft.com/office/powerpoint/2010/main" val="2998378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CCD28-56DC-2D6A-6F7E-F64F10AE47DC}"/>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96A11F74-84C6-BDB6-1AE5-FDEC001C9D73}"/>
              </a:ext>
            </a:extLst>
          </p:cNvPr>
          <p:cNvSpPr>
            <a:spLocks noGrp="1"/>
          </p:cNvSpPr>
          <p:nvPr>
            <p:ph type="subTitle" idx="1"/>
          </p:nvPr>
        </p:nvSpPr>
        <p:spPr>
          <a:xfrm>
            <a:off x="822034" y="1657338"/>
            <a:ext cx="8563234" cy="4593005"/>
          </a:xfrm>
        </p:spPr>
        <p:txBody>
          <a:bodyPr>
            <a:noAutofit/>
          </a:bodyPr>
          <a:lstStyle/>
          <a:p>
            <a:pPr marL="285750" indent="-285750" algn="l">
              <a:lnSpc>
                <a:spcPct val="120000"/>
              </a:lnSpc>
              <a:spcBef>
                <a:spcPts val="0"/>
              </a:spcBef>
              <a:spcAft>
                <a:spcPts val="600"/>
              </a:spcAft>
              <a:buFont typeface="Arial" panose="020B0604020202020204" pitchFamily="34" charset="0"/>
              <a:buChar char="•"/>
            </a:pPr>
            <a:r>
              <a:rPr lang="en-GB" sz="2000" noProof="0" dirty="0"/>
              <a:t>Stencil computations have diverse applications including the numerical solution of partial differential equations, such as the </a:t>
            </a:r>
            <a:r>
              <a:rPr lang="en-GB" sz="2000" b="1" noProof="0" dirty="0"/>
              <a:t>heat </a:t>
            </a:r>
            <a:r>
              <a:rPr lang="en-GB" sz="2000" noProof="0" dirty="0"/>
              <a:t>equation for thermal diffusion process.</a:t>
            </a:r>
          </a:p>
          <a:p>
            <a:pPr marL="285750" indent="-285750" algn="l">
              <a:lnSpc>
                <a:spcPct val="120000"/>
              </a:lnSpc>
              <a:spcBef>
                <a:spcPts val="0"/>
              </a:spcBef>
              <a:spcAft>
                <a:spcPts val="600"/>
              </a:spcAft>
              <a:buFont typeface="Arial" panose="020B0604020202020204" pitchFamily="34" charset="0"/>
              <a:buChar char="•"/>
            </a:pPr>
            <a:r>
              <a:rPr lang="en-GB" sz="2000" noProof="0" dirty="0"/>
              <a:t>The continuous domain is </a:t>
            </a:r>
            <a:r>
              <a:rPr lang="en-GB" sz="2000" b="1" noProof="0" dirty="0"/>
              <a:t>discretized</a:t>
            </a:r>
            <a:r>
              <a:rPr lang="en-GB" sz="2000" noProof="0" dirty="0"/>
              <a:t> into a two dimensions grid where the state of each cell is updated iteratively. Using the finite difference method, a point's new value </a:t>
            </a:r>
            <a:r>
              <a:rPr lang="en-GB" sz="2000" i="1" noProof="0" dirty="0" err="1"/>
              <a:t>x</a:t>
            </a:r>
            <a:r>
              <a:rPr lang="en-GB" sz="2000" i="1" baseline="-25000" noProof="0" dirty="0" err="1"/>
              <a:t>ij</a:t>
            </a:r>
            <a:r>
              <a:rPr lang="en-GB" sz="2000" i="1" noProof="0" dirty="0"/>
              <a:t>(t)</a:t>
            </a:r>
            <a:r>
              <a:rPr lang="en-GB" sz="2000" noProof="0" dirty="0"/>
              <a:t>  is derived from the average of its previous value </a:t>
            </a:r>
            <a:r>
              <a:rPr lang="en-GB" sz="2000" i="1" noProof="0" dirty="0" err="1"/>
              <a:t>x</a:t>
            </a:r>
            <a:r>
              <a:rPr lang="en-GB" sz="2000" i="1" baseline="-25000" noProof="0" dirty="0" err="1"/>
              <a:t>ij</a:t>
            </a:r>
            <a:r>
              <a:rPr lang="en-GB" sz="2000" i="1" noProof="0" dirty="0"/>
              <a:t>(t-1) </a:t>
            </a:r>
            <a:r>
              <a:rPr lang="en-GB" sz="2000" noProof="0" dirty="0"/>
              <a:t>and its four orthogonal neighbours. </a:t>
            </a:r>
          </a:p>
          <a:p>
            <a:pPr marL="285750" indent="-285750" algn="l">
              <a:lnSpc>
                <a:spcPct val="120000"/>
              </a:lnSpc>
              <a:spcBef>
                <a:spcPts val="0"/>
              </a:spcBef>
              <a:spcAft>
                <a:spcPts val="600"/>
              </a:spcAft>
              <a:buFont typeface="Arial" panose="020B0604020202020204" pitchFamily="34" charset="0"/>
              <a:buChar char="•"/>
            </a:pPr>
            <a:r>
              <a:rPr lang="en-GB" sz="2000" noProof="0" dirty="0"/>
              <a:t>The parallelization strategy decomposes the global simulation grid into local patches, assigning one patch per MPI rank.</a:t>
            </a:r>
          </a:p>
          <a:p>
            <a:pPr marL="285750" indent="-285750" algn="l">
              <a:lnSpc>
                <a:spcPct val="120000"/>
              </a:lnSpc>
              <a:spcBef>
                <a:spcPts val="0"/>
              </a:spcBef>
              <a:spcAft>
                <a:spcPts val="600"/>
              </a:spcAft>
              <a:buFont typeface="Arial" panose="020B0604020202020204" pitchFamily="34" charset="0"/>
              <a:buChar char="•"/>
            </a:pPr>
            <a:r>
              <a:rPr lang="en-GB" sz="2000" noProof="0" dirty="0"/>
              <a:t>This introduces data dependencies across process boundaries and necessitates </a:t>
            </a:r>
            <a:r>
              <a:rPr lang="en-GB" sz="2000" b="1" noProof="0" dirty="0"/>
              <a:t>inter-process communication</a:t>
            </a:r>
            <a:r>
              <a:rPr lang="en-GB" sz="2000" noProof="0" dirty="0"/>
              <a:t>.</a:t>
            </a:r>
          </a:p>
        </p:txBody>
      </p:sp>
      <p:grpSp>
        <p:nvGrpSpPr>
          <p:cNvPr id="15" name="Gruppo 14">
            <a:extLst>
              <a:ext uri="{FF2B5EF4-FFF2-40B4-BE49-F238E27FC236}">
                <a16:creationId xmlns:a16="http://schemas.microsoft.com/office/drawing/2014/main" id="{AFB2B68F-9DF7-9C09-E5D8-F555B48189A8}"/>
              </a:ext>
            </a:extLst>
          </p:cNvPr>
          <p:cNvGrpSpPr/>
          <p:nvPr/>
        </p:nvGrpSpPr>
        <p:grpSpPr>
          <a:xfrm>
            <a:off x="9385267" y="2224991"/>
            <a:ext cx="2122120" cy="2408017"/>
            <a:chOff x="5034939" y="3842327"/>
            <a:chExt cx="2122120" cy="2408017"/>
          </a:xfrm>
        </p:grpSpPr>
        <p:pic>
          <p:nvPicPr>
            <p:cNvPr id="5" name="Immagine 4" descr="Immagine che contiene quadrato, Policromia, schermata, Rettangolo&#10;&#10;Il contenuto generato dall'IA potrebbe non essere corretto.">
              <a:extLst>
                <a:ext uri="{FF2B5EF4-FFF2-40B4-BE49-F238E27FC236}">
                  <a16:creationId xmlns:a16="http://schemas.microsoft.com/office/drawing/2014/main" id="{A5CA7AB2-6FAE-41D7-DC97-6D66987FA6FC}"/>
                </a:ext>
              </a:extLst>
            </p:cNvPr>
            <p:cNvPicPr>
              <a:picLocks noChangeAspect="1"/>
            </p:cNvPicPr>
            <p:nvPr/>
          </p:nvPicPr>
          <p:blipFill>
            <a:blip r:embed="rId2"/>
            <a:stretch>
              <a:fillRect/>
            </a:stretch>
          </p:blipFill>
          <p:spPr>
            <a:xfrm>
              <a:off x="5034939" y="3842327"/>
              <a:ext cx="2122120" cy="2122120"/>
            </a:xfrm>
            <a:prstGeom prst="rect">
              <a:avLst/>
            </a:prstGeom>
          </p:spPr>
        </p:pic>
        <p:sp>
          <p:nvSpPr>
            <p:cNvPr id="11" name="CasellaDiTesto 10">
              <a:extLst>
                <a:ext uri="{FF2B5EF4-FFF2-40B4-BE49-F238E27FC236}">
                  <a16:creationId xmlns:a16="http://schemas.microsoft.com/office/drawing/2014/main" id="{C0F51FAB-5157-3F24-27C6-0B4413A202F7}"/>
                </a:ext>
              </a:extLst>
            </p:cNvPr>
            <p:cNvSpPr txBox="1"/>
            <p:nvPr/>
          </p:nvSpPr>
          <p:spPr>
            <a:xfrm>
              <a:off x="5213926" y="5881012"/>
              <a:ext cx="1764146" cy="369332"/>
            </a:xfrm>
            <a:prstGeom prst="rect">
              <a:avLst/>
            </a:prstGeom>
            <a:noFill/>
          </p:spPr>
          <p:txBody>
            <a:bodyPr wrap="square" rtlCol="0">
              <a:spAutoFit/>
            </a:bodyPr>
            <a:lstStyle/>
            <a:p>
              <a:pPr algn="ctr"/>
              <a:r>
                <a:rPr lang="en-GB" b="1" noProof="0" dirty="0"/>
                <a:t>5-point </a:t>
              </a:r>
            </a:p>
          </p:txBody>
        </p:sp>
      </p:grpSp>
      <p:sp>
        <p:nvSpPr>
          <p:cNvPr id="14" name="Titolo 1">
            <a:extLst>
              <a:ext uri="{FF2B5EF4-FFF2-40B4-BE49-F238E27FC236}">
                <a16:creationId xmlns:a16="http://schemas.microsoft.com/office/drawing/2014/main" id="{3C25FCFC-46A4-E4FB-C69C-6BE9F1BC4177}"/>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The 5-point stencil computation</a:t>
            </a:r>
          </a:p>
        </p:txBody>
      </p:sp>
      <p:sp>
        <p:nvSpPr>
          <p:cNvPr id="2" name="CasellaDiTesto 1">
            <a:extLst>
              <a:ext uri="{FF2B5EF4-FFF2-40B4-BE49-F238E27FC236}">
                <a16:creationId xmlns:a16="http://schemas.microsoft.com/office/drawing/2014/main" id="{D75B13F0-0D59-F671-62DB-DDFAF4BE8365}"/>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1D310840-2FA8-ABFC-B233-084F6B7759BA}"/>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0" name="CasellaDiTesto 9">
            <a:extLst>
              <a:ext uri="{FF2B5EF4-FFF2-40B4-BE49-F238E27FC236}">
                <a16:creationId xmlns:a16="http://schemas.microsoft.com/office/drawing/2014/main" id="{406CC7E5-04E3-7440-55F6-F163ABA34D89}"/>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2" name="CasellaDiTesto 11">
            <a:extLst>
              <a:ext uri="{FF2B5EF4-FFF2-40B4-BE49-F238E27FC236}">
                <a16:creationId xmlns:a16="http://schemas.microsoft.com/office/drawing/2014/main" id="{CDB5D8BE-B640-C644-3885-7B98B8D76AD3}"/>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3</a:t>
            </a:fld>
            <a:r>
              <a:rPr lang="en-GB" sz="1100" noProof="0" dirty="0"/>
              <a:t>/29</a:t>
            </a:r>
          </a:p>
        </p:txBody>
      </p:sp>
    </p:spTree>
    <p:extLst>
      <p:ext uri="{BB962C8B-B14F-4D97-AF65-F5344CB8AC3E}">
        <p14:creationId xmlns:p14="http://schemas.microsoft.com/office/powerpoint/2010/main" val="254973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621E8-54C8-416B-CF56-E2EC134B081B}"/>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50CD9401-7A4E-6ABB-AF22-2366B6387EBB}"/>
              </a:ext>
            </a:extLst>
          </p:cNvPr>
          <p:cNvSpPr>
            <a:spLocks noGrp="1"/>
          </p:cNvSpPr>
          <p:nvPr>
            <p:ph type="subTitle" idx="1"/>
          </p:nvPr>
        </p:nvSpPr>
        <p:spPr>
          <a:xfrm>
            <a:off x="822034" y="1657338"/>
            <a:ext cx="10547928" cy="4593005"/>
          </a:xfrm>
        </p:spPr>
        <p:txBody>
          <a:bodyPr>
            <a:noAutofit/>
          </a:bodyPr>
          <a:lstStyle/>
          <a:p>
            <a:pPr marL="285750" indent="-285750" algn="l">
              <a:lnSpc>
                <a:spcPct val="120000"/>
              </a:lnSpc>
              <a:spcBef>
                <a:spcPts val="0"/>
              </a:spcBef>
              <a:spcAft>
                <a:spcPts val="600"/>
              </a:spcAft>
              <a:buFont typeface="Arial" panose="020B0604020202020204" pitchFamily="34" charset="0"/>
              <a:buChar char="•"/>
            </a:pPr>
            <a:r>
              <a:rPr lang="en-GB" noProof="0" dirty="0"/>
              <a:t>Parallelization begins by partitioning the global computational grid into smaller sub-grids, with each </a:t>
            </a:r>
            <a:r>
              <a:rPr lang="en-GB" b="1" noProof="0" dirty="0"/>
              <a:t>MPI process</a:t>
            </a:r>
            <a:r>
              <a:rPr lang="en-GB" noProof="0" dirty="0"/>
              <a:t> managing a specific region. </a:t>
            </a:r>
          </a:p>
          <a:p>
            <a:pPr marL="285750" indent="-285750" algn="l">
              <a:lnSpc>
                <a:spcPct val="120000"/>
              </a:lnSpc>
              <a:spcBef>
                <a:spcPts val="0"/>
              </a:spcBef>
              <a:spcAft>
                <a:spcPts val="600"/>
              </a:spcAft>
              <a:buFont typeface="Arial" panose="020B0604020202020204" pitchFamily="34" charset="0"/>
              <a:buChar char="•"/>
            </a:pPr>
            <a:r>
              <a:rPr lang="en-GB" noProof="0" dirty="0"/>
              <a:t>While </a:t>
            </a:r>
            <a:r>
              <a:rPr lang="en-GB" i="1" noProof="0" dirty="0"/>
              <a:t>internal points </a:t>
            </a:r>
            <a:r>
              <a:rPr lang="en-GB" noProof="0" dirty="0"/>
              <a:t>can be updated independently, the </a:t>
            </a:r>
            <a:r>
              <a:rPr lang="en-GB" i="1" noProof="0" dirty="0"/>
              <a:t>boundary points</a:t>
            </a:r>
            <a:r>
              <a:rPr lang="en-GB" noProof="0" dirty="0"/>
              <a:t> introduce dependencies on data held by neighbouring processes. </a:t>
            </a:r>
          </a:p>
          <a:p>
            <a:pPr marL="285750" indent="-285750" algn="l">
              <a:lnSpc>
                <a:spcPct val="120000"/>
              </a:lnSpc>
              <a:spcBef>
                <a:spcPts val="0"/>
              </a:spcBef>
              <a:spcAft>
                <a:spcPts val="600"/>
              </a:spcAft>
              <a:buFont typeface="Arial" panose="020B0604020202020204" pitchFamily="34" charset="0"/>
              <a:buChar char="•"/>
            </a:pPr>
            <a:r>
              <a:rPr lang="en-GB" noProof="0" dirty="0"/>
              <a:t>Border points at the edge of a local domain require values from adjacent domains to complete the stencil operation. Consequently, synchronization and data exchange between processes are performed at each time step.</a:t>
            </a:r>
          </a:p>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14" name="Titolo 1">
            <a:extLst>
              <a:ext uri="{FF2B5EF4-FFF2-40B4-BE49-F238E27FC236}">
                <a16:creationId xmlns:a16="http://schemas.microsoft.com/office/drawing/2014/main" id="{D071DC98-13B5-BF21-E463-2DB315BC0C19}"/>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Parallelization strategy: Domain Decomposition</a:t>
            </a:r>
          </a:p>
        </p:txBody>
      </p:sp>
      <p:sp>
        <p:nvSpPr>
          <p:cNvPr id="16" name="CasellaDiTesto 15">
            <a:extLst>
              <a:ext uri="{FF2B5EF4-FFF2-40B4-BE49-F238E27FC236}">
                <a16:creationId xmlns:a16="http://schemas.microsoft.com/office/drawing/2014/main" id="{7C69355E-8254-8CA5-1837-A01B618C898D}"/>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7" name="CasellaDiTesto 16">
            <a:extLst>
              <a:ext uri="{FF2B5EF4-FFF2-40B4-BE49-F238E27FC236}">
                <a16:creationId xmlns:a16="http://schemas.microsoft.com/office/drawing/2014/main" id="{DDDF103C-A19C-617E-7D41-6F67AB4FF224}"/>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8" name="CasellaDiTesto 17">
            <a:extLst>
              <a:ext uri="{FF2B5EF4-FFF2-40B4-BE49-F238E27FC236}">
                <a16:creationId xmlns:a16="http://schemas.microsoft.com/office/drawing/2014/main" id="{A5692293-7183-A7C9-B40A-7214C61521F4}"/>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9" name="CasellaDiTesto 18">
            <a:extLst>
              <a:ext uri="{FF2B5EF4-FFF2-40B4-BE49-F238E27FC236}">
                <a16:creationId xmlns:a16="http://schemas.microsoft.com/office/drawing/2014/main" id="{6C30943B-6456-B72D-47AA-B4975AB599D9}"/>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4</a:t>
            </a:fld>
            <a:r>
              <a:rPr lang="en-GB" sz="1100" noProof="0" dirty="0"/>
              <a:t>/29</a:t>
            </a:r>
          </a:p>
        </p:txBody>
      </p:sp>
    </p:spTree>
    <p:extLst>
      <p:ext uri="{BB962C8B-B14F-4D97-AF65-F5344CB8AC3E}">
        <p14:creationId xmlns:p14="http://schemas.microsoft.com/office/powerpoint/2010/main" val="298805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635E4-0221-574C-7BA2-ADC819DE5030}"/>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19BAA7C7-99EE-6FA8-AE18-7A71648314AF}"/>
              </a:ext>
            </a:extLst>
          </p:cNvPr>
          <p:cNvSpPr>
            <a:spLocks noGrp="1"/>
          </p:cNvSpPr>
          <p:nvPr>
            <p:ph type="subTitle" idx="1"/>
          </p:nvPr>
        </p:nvSpPr>
        <p:spPr>
          <a:xfrm>
            <a:off x="822034" y="1657338"/>
            <a:ext cx="10547928" cy="4593005"/>
          </a:xfrm>
        </p:spPr>
        <p:txBody>
          <a:bodyPr>
            <a:noAutofit/>
          </a:bodyPr>
          <a:lstStyle/>
          <a:p>
            <a:pPr marL="285750" indent="-285750" algn="l">
              <a:lnSpc>
                <a:spcPct val="120000"/>
              </a:lnSpc>
              <a:spcBef>
                <a:spcPts val="0"/>
              </a:spcBef>
              <a:spcAft>
                <a:spcPts val="600"/>
              </a:spcAft>
              <a:buFont typeface="Arial" panose="020B0604020202020204" pitchFamily="34" charset="0"/>
              <a:buChar char="•"/>
            </a:pPr>
            <a:r>
              <a:rPr lang="en-GB" sz="2000" noProof="0" dirty="0"/>
              <a:t>A custom 2D Cartesian topology that maps MPI ranks to grid coordinates was implemented.</a:t>
            </a:r>
          </a:p>
          <a:p>
            <a:pPr marL="285750" indent="-285750" algn="l">
              <a:lnSpc>
                <a:spcPct val="120000"/>
              </a:lnSpc>
              <a:spcBef>
                <a:spcPts val="0"/>
              </a:spcBef>
              <a:spcAft>
                <a:spcPts val="600"/>
              </a:spcAft>
              <a:buFont typeface="Arial" panose="020B0604020202020204" pitchFamily="34" charset="0"/>
              <a:buChar char="•"/>
            </a:pPr>
            <a:r>
              <a:rPr lang="en-GB" sz="2000" b="1" noProof="0" dirty="0"/>
              <a:t>Grid Partitioning</a:t>
            </a:r>
            <a:r>
              <a:rPr lang="en-GB" sz="2000" noProof="0" dirty="0"/>
              <a:t>: An automatic factorization algorithm </a:t>
            </a:r>
            <a:r>
              <a:rPr lang="en-GB" sz="1600" noProof="0" dirty="0" err="1">
                <a:latin typeface="Courier New" panose="02070309020205020404" pitchFamily="49" charset="0"/>
                <a:cs typeface="Courier New" panose="02070309020205020404" pitchFamily="49" charset="0"/>
              </a:rPr>
              <a:t>simple_factorization</a:t>
            </a:r>
            <a:r>
              <a:rPr lang="en-GB" sz="1600" noProof="0" dirty="0">
                <a:latin typeface="Courier New" panose="02070309020205020404" pitchFamily="49" charset="0"/>
                <a:cs typeface="Courier New" panose="02070309020205020404" pitchFamily="49" charset="0"/>
              </a:rPr>
              <a:t>()</a:t>
            </a:r>
            <a:r>
              <a:rPr lang="en-GB" sz="2000" noProof="0" dirty="0"/>
              <a:t>determines the optimal process grid dimensions to ensure load balancing and minimize the surface-to-volume ratio (square-like decomposition).</a:t>
            </a:r>
          </a:p>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14" name="Titolo 1">
            <a:extLst>
              <a:ext uri="{FF2B5EF4-FFF2-40B4-BE49-F238E27FC236}">
                <a16:creationId xmlns:a16="http://schemas.microsoft.com/office/drawing/2014/main" id="{71F52EC2-AE3D-30F6-33BC-2E5300D39396}"/>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Parallelization strategy: Domain Decomposition</a:t>
            </a:r>
          </a:p>
        </p:txBody>
      </p:sp>
      <p:pic>
        <p:nvPicPr>
          <p:cNvPr id="10" name="Immagine 9" descr="Immagine che contiene schermata&#10;&#10;Il contenuto generato dall'IA potrebbe non essere corretto.">
            <a:extLst>
              <a:ext uri="{FF2B5EF4-FFF2-40B4-BE49-F238E27FC236}">
                <a16:creationId xmlns:a16="http://schemas.microsoft.com/office/drawing/2014/main" id="{CA3529FC-6015-76BF-A444-6A224BFDA057}"/>
              </a:ext>
            </a:extLst>
          </p:cNvPr>
          <p:cNvPicPr>
            <a:picLocks noChangeAspect="1"/>
          </p:cNvPicPr>
          <p:nvPr/>
        </p:nvPicPr>
        <p:blipFill>
          <a:blip r:embed="rId2"/>
          <a:stretch>
            <a:fillRect/>
          </a:stretch>
        </p:blipFill>
        <p:spPr>
          <a:xfrm>
            <a:off x="1764683" y="3429000"/>
            <a:ext cx="8662630" cy="3001902"/>
          </a:xfrm>
          <a:prstGeom prst="rect">
            <a:avLst/>
          </a:prstGeom>
        </p:spPr>
      </p:pic>
      <p:sp>
        <p:nvSpPr>
          <p:cNvPr id="11" name="CasellaDiTesto 10">
            <a:extLst>
              <a:ext uri="{FF2B5EF4-FFF2-40B4-BE49-F238E27FC236}">
                <a16:creationId xmlns:a16="http://schemas.microsoft.com/office/drawing/2014/main" id="{A05C462D-BA3B-B3A9-77AE-C244AD628211}"/>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2" name="CasellaDiTesto 11">
            <a:extLst>
              <a:ext uri="{FF2B5EF4-FFF2-40B4-BE49-F238E27FC236}">
                <a16:creationId xmlns:a16="http://schemas.microsoft.com/office/drawing/2014/main" id="{BB862D55-5263-F976-2B62-3E8DE9F02D0D}"/>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3" name="CasellaDiTesto 12">
            <a:extLst>
              <a:ext uri="{FF2B5EF4-FFF2-40B4-BE49-F238E27FC236}">
                <a16:creationId xmlns:a16="http://schemas.microsoft.com/office/drawing/2014/main" id="{3D346FDF-7720-9D65-F6E1-F115E938BB71}"/>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5" name="CasellaDiTesto 14">
            <a:extLst>
              <a:ext uri="{FF2B5EF4-FFF2-40B4-BE49-F238E27FC236}">
                <a16:creationId xmlns:a16="http://schemas.microsoft.com/office/drawing/2014/main" id="{F243CA6D-A53A-1CE6-8957-74BFBBC20696}"/>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5</a:t>
            </a:fld>
            <a:r>
              <a:rPr lang="en-GB" sz="1100" noProof="0" dirty="0"/>
              <a:t>/29</a:t>
            </a:r>
          </a:p>
        </p:txBody>
      </p:sp>
    </p:spTree>
    <p:extLst>
      <p:ext uri="{BB962C8B-B14F-4D97-AF65-F5344CB8AC3E}">
        <p14:creationId xmlns:p14="http://schemas.microsoft.com/office/powerpoint/2010/main" val="1141929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89CF4-B802-0C12-E55E-53AE65595DCD}"/>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2F13B3DA-2E05-4D5C-EC55-5FC3C7DC203B}"/>
              </a:ext>
            </a:extLst>
          </p:cNvPr>
          <p:cNvSpPr>
            <a:spLocks noGrp="1"/>
          </p:cNvSpPr>
          <p:nvPr>
            <p:ph type="subTitle" idx="1"/>
          </p:nvPr>
        </p:nvSpPr>
        <p:spPr>
          <a:xfrm>
            <a:off x="822034" y="1657338"/>
            <a:ext cx="10547928" cy="4593005"/>
          </a:xfrm>
        </p:spPr>
        <p:txBody>
          <a:bodyPr>
            <a:noAutofit/>
          </a:bodyPr>
          <a:lstStyle/>
          <a:p>
            <a:pPr marL="285750" indent="-285750" algn="l">
              <a:lnSpc>
                <a:spcPct val="120000"/>
              </a:lnSpc>
              <a:spcBef>
                <a:spcPts val="0"/>
              </a:spcBef>
              <a:spcAft>
                <a:spcPts val="600"/>
              </a:spcAft>
              <a:buFont typeface="Arial" panose="020B0604020202020204" pitchFamily="34" charset="0"/>
              <a:buChar char="•"/>
            </a:pPr>
            <a:r>
              <a:rPr lang="en-GB" sz="2000" noProof="0" dirty="0"/>
              <a:t>Each process calculates its coordinates (X, Y) in the virtual grid using arithmetic operations (</a:t>
            </a:r>
            <a:r>
              <a:rPr lang="en-GB" sz="1800" noProof="0" dirty="0">
                <a:latin typeface="Courier New" panose="02070309020205020404" pitchFamily="49" charset="0"/>
                <a:cs typeface="Courier New" panose="02070309020205020404" pitchFamily="49" charset="0"/>
              </a:rPr>
              <a:t>X = Rank / Grid[</a:t>
            </a:r>
            <a:r>
              <a:rPr lang="en-GB" sz="1800" i="1" noProof="0" dirty="0">
                <a:latin typeface="Courier New" panose="02070309020205020404" pitchFamily="49" charset="0"/>
                <a:cs typeface="Courier New" panose="02070309020205020404" pitchFamily="49" charset="0"/>
              </a:rPr>
              <a:t>x</a:t>
            </a:r>
            <a:r>
              <a:rPr lang="en-GB" sz="1800" noProof="0" dirty="0">
                <a:latin typeface="Courier New" panose="02070309020205020404" pitchFamily="49" charset="0"/>
                <a:cs typeface="Courier New" panose="02070309020205020404" pitchFamily="49" charset="0"/>
              </a:rPr>
              <a:t>], Y = Rank / Grid[</a:t>
            </a:r>
            <a:r>
              <a:rPr lang="en-GB" sz="1800" i="1" noProof="0" dirty="0">
                <a:latin typeface="Courier New" panose="02070309020205020404" pitchFamily="49" charset="0"/>
                <a:cs typeface="Courier New" panose="02070309020205020404" pitchFamily="49" charset="0"/>
              </a:rPr>
              <a:t>x</a:t>
            </a:r>
            <a:r>
              <a:rPr lang="en-GB" sz="1800" noProof="0" dirty="0">
                <a:latin typeface="Courier New" panose="02070309020205020404" pitchFamily="49" charset="0"/>
                <a:cs typeface="Courier New" panose="02070309020205020404" pitchFamily="49" charset="0"/>
              </a:rPr>
              <a:t>]), </a:t>
            </a:r>
            <a:r>
              <a:rPr lang="en-GB" sz="2000" noProof="0" dirty="0"/>
              <a:t>and determines its neighbours (N, S, E, W) through direct rank calculations. This manual approach provides explicit control over the decomposition logic and avoids the overhead of MPI topology management functions.</a:t>
            </a:r>
          </a:p>
        </p:txBody>
      </p:sp>
      <p:sp>
        <p:nvSpPr>
          <p:cNvPr id="14" name="Titolo 1">
            <a:extLst>
              <a:ext uri="{FF2B5EF4-FFF2-40B4-BE49-F238E27FC236}">
                <a16:creationId xmlns:a16="http://schemas.microsoft.com/office/drawing/2014/main" id="{A0FDC730-FD76-F35C-77E6-EC7635C49662}"/>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Parallelization strategy: Domain Decomposition</a:t>
            </a:r>
          </a:p>
        </p:txBody>
      </p:sp>
      <p:pic>
        <p:nvPicPr>
          <p:cNvPr id="10" name="Immagine 9" descr="Immagine che contiene schermata&#10;&#10;Il contenuto generato dall'IA potrebbe non essere corretto.">
            <a:extLst>
              <a:ext uri="{FF2B5EF4-FFF2-40B4-BE49-F238E27FC236}">
                <a16:creationId xmlns:a16="http://schemas.microsoft.com/office/drawing/2014/main" id="{6C23A962-1902-85CC-A895-5BA0DDBFE1FC}"/>
              </a:ext>
            </a:extLst>
          </p:cNvPr>
          <p:cNvPicPr>
            <a:picLocks noChangeAspect="1"/>
          </p:cNvPicPr>
          <p:nvPr/>
        </p:nvPicPr>
        <p:blipFill>
          <a:blip r:embed="rId2"/>
          <a:stretch>
            <a:fillRect/>
          </a:stretch>
        </p:blipFill>
        <p:spPr>
          <a:xfrm>
            <a:off x="1764683" y="3429000"/>
            <a:ext cx="8662630" cy="3001902"/>
          </a:xfrm>
          <a:prstGeom prst="rect">
            <a:avLst/>
          </a:prstGeom>
        </p:spPr>
      </p:pic>
      <p:sp>
        <p:nvSpPr>
          <p:cNvPr id="12" name="CasellaDiTesto 11">
            <a:extLst>
              <a:ext uri="{FF2B5EF4-FFF2-40B4-BE49-F238E27FC236}">
                <a16:creationId xmlns:a16="http://schemas.microsoft.com/office/drawing/2014/main" id="{87882415-7A33-F7B6-F3DA-4B08293C85C7}"/>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3" name="CasellaDiTesto 12">
            <a:extLst>
              <a:ext uri="{FF2B5EF4-FFF2-40B4-BE49-F238E27FC236}">
                <a16:creationId xmlns:a16="http://schemas.microsoft.com/office/drawing/2014/main" id="{7CA1C2A7-A030-ECFB-7F18-E8E320DC0968}"/>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5" name="CasellaDiTesto 14">
            <a:extLst>
              <a:ext uri="{FF2B5EF4-FFF2-40B4-BE49-F238E27FC236}">
                <a16:creationId xmlns:a16="http://schemas.microsoft.com/office/drawing/2014/main" id="{5CC6980D-AB82-6AD1-DA50-4C5701F9F406}"/>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6" name="CasellaDiTesto 15">
            <a:extLst>
              <a:ext uri="{FF2B5EF4-FFF2-40B4-BE49-F238E27FC236}">
                <a16:creationId xmlns:a16="http://schemas.microsoft.com/office/drawing/2014/main" id="{557BBD03-701E-3891-71E7-896501469E7B}"/>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6</a:t>
            </a:fld>
            <a:r>
              <a:rPr lang="en-GB" sz="1100" noProof="0" dirty="0"/>
              <a:t>/29</a:t>
            </a:r>
          </a:p>
        </p:txBody>
      </p:sp>
    </p:spTree>
    <p:extLst>
      <p:ext uri="{BB962C8B-B14F-4D97-AF65-F5344CB8AC3E}">
        <p14:creationId xmlns:p14="http://schemas.microsoft.com/office/powerpoint/2010/main" val="2274812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54C6C-6B87-BBBA-C3A0-EFF0BE01DEE8}"/>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FCAC7020-E270-1D79-53A9-0C9DD37F198B}"/>
              </a:ext>
            </a:extLst>
          </p:cNvPr>
          <p:cNvSpPr>
            <a:spLocks noGrp="1"/>
          </p:cNvSpPr>
          <p:nvPr>
            <p:ph type="subTitle" idx="1"/>
          </p:nvPr>
        </p:nvSpPr>
        <p:spPr>
          <a:xfrm>
            <a:off x="822034" y="1657338"/>
            <a:ext cx="10547928" cy="4593005"/>
          </a:xfrm>
        </p:spPr>
        <p:txBody>
          <a:bodyPr>
            <a:noAutofit/>
          </a:bodyPr>
          <a:lstStyle/>
          <a:p>
            <a:pPr marL="285750" indent="-285750" algn="l">
              <a:lnSpc>
                <a:spcPct val="120000"/>
              </a:lnSpc>
              <a:spcBef>
                <a:spcPts val="0"/>
              </a:spcBef>
              <a:spcAft>
                <a:spcPts val="600"/>
              </a:spcAft>
              <a:buFont typeface="Arial" panose="020B0604020202020204" pitchFamily="34" charset="0"/>
              <a:buChar char="•"/>
            </a:pPr>
            <a:r>
              <a:rPr lang="en-GB" sz="1800" noProof="0" dirty="0"/>
              <a:t>To enable border point computation, each MPI rank process reserves additional memory regions (</a:t>
            </a:r>
            <a:r>
              <a:rPr lang="en-GB" sz="1800" i="1" noProof="0" dirty="0"/>
              <a:t>Halo zones</a:t>
            </a:r>
            <a:r>
              <a:rPr lang="en-GB" sz="1800" noProof="0" dirty="0"/>
              <a:t>) surrounding its local grid patch, which will hold boundary values received from adjacent ranks.</a:t>
            </a:r>
          </a:p>
          <a:p>
            <a:pPr marL="285750" indent="-285750" algn="l">
              <a:lnSpc>
                <a:spcPct val="120000"/>
              </a:lnSpc>
              <a:spcBef>
                <a:spcPts val="0"/>
              </a:spcBef>
              <a:spcAft>
                <a:spcPts val="600"/>
              </a:spcAft>
              <a:buFont typeface="Arial" panose="020B0604020202020204" pitchFamily="34" charset="0"/>
              <a:buChar char="•"/>
            </a:pPr>
            <a:r>
              <a:rPr lang="en-GB" sz="1800" noProof="0" dirty="0"/>
              <a:t>The halo exchange follows a coordinated protocol: each rank prepares its boundary data, transmits it to neighbouring ranks via MPI, and simultaneously receives corresponding boundary data to populate its halo regions.</a:t>
            </a:r>
          </a:p>
          <a:p>
            <a:pPr marL="285750" indent="-285750" algn="l">
              <a:lnSpc>
                <a:spcPct val="120000"/>
              </a:lnSpc>
              <a:spcBef>
                <a:spcPts val="0"/>
              </a:spcBef>
              <a:spcAft>
                <a:spcPts val="600"/>
              </a:spcAft>
              <a:buFont typeface="Arial" panose="020B0604020202020204" pitchFamily="34" charset="0"/>
              <a:buChar char="•"/>
            </a:pPr>
            <a:r>
              <a:rPr lang="en-GB" sz="1800" noProof="0" dirty="0"/>
              <a:t>Implementation:</a:t>
            </a:r>
          </a:p>
          <a:p>
            <a:pPr marL="742950" lvl="1" indent="-285750" algn="l">
              <a:lnSpc>
                <a:spcPct val="120000"/>
              </a:lnSpc>
              <a:spcBef>
                <a:spcPts val="0"/>
              </a:spcBef>
              <a:spcAft>
                <a:spcPts val="600"/>
              </a:spcAft>
              <a:buFont typeface="Arial" panose="020B0604020202020204" pitchFamily="34" charset="0"/>
              <a:buChar char="•"/>
            </a:pPr>
            <a:r>
              <a:rPr lang="en-GB" sz="1800" noProof="0" dirty="0"/>
              <a:t>Non-blocking MPI calls (</a:t>
            </a:r>
            <a:r>
              <a:rPr lang="en-GB" sz="1600" noProof="0" dirty="0" err="1">
                <a:latin typeface="Courier New" panose="02070309020205020404" pitchFamily="49" charset="0"/>
                <a:cs typeface="Courier New" panose="02070309020205020404" pitchFamily="49" charset="0"/>
              </a:rPr>
              <a:t>MPI_Isend</a:t>
            </a:r>
            <a:r>
              <a:rPr lang="en-GB" sz="1600" noProof="0" dirty="0">
                <a:latin typeface="Courier New" panose="02070309020205020404" pitchFamily="49" charset="0"/>
                <a:cs typeface="Courier New" panose="02070309020205020404" pitchFamily="49" charset="0"/>
              </a:rPr>
              <a:t> </a:t>
            </a:r>
            <a:r>
              <a:rPr lang="en-GB" sz="1800" noProof="0" dirty="0"/>
              <a:t>/ </a:t>
            </a:r>
            <a:r>
              <a:rPr lang="en-GB" sz="1600" noProof="0" dirty="0" err="1">
                <a:latin typeface="Courier New" panose="02070309020205020404" pitchFamily="49" charset="0"/>
                <a:cs typeface="Courier New" panose="02070309020205020404" pitchFamily="49" charset="0"/>
              </a:rPr>
              <a:t>MPI_Irecv</a:t>
            </a:r>
            <a:r>
              <a:rPr lang="en-GB" sz="1800" noProof="0" dirty="0"/>
              <a:t>) for asynchronous communication</a:t>
            </a:r>
          </a:p>
          <a:p>
            <a:pPr marL="742950" lvl="1" indent="-285750" algn="l">
              <a:lnSpc>
                <a:spcPct val="120000"/>
              </a:lnSpc>
              <a:spcBef>
                <a:spcPts val="0"/>
              </a:spcBef>
              <a:spcAft>
                <a:spcPts val="600"/>
              </a:spcAft>
              <a:buFont typeface="Arial" panose="020B0604020202020204" pitchFamily="34" charset="0"/>
              <a:buChar char="•"/>
            </a:pPr>
            <a:r>
              <a:rPr lang="en-GB" sz="1800" noProof="0" dirty="0"/>
              <a:t>Inline implementation within the main loop (not separate functions) for minimal overhead</a:t>
            </a:r>
          </a:p>
          <a:p>
            <a:pPr marL="742950" lvl="1" indent="-285750" algn="l">
              <a:lnSpc>
                <a:spcPct val="120000"/>
              </a:lnSpc>
              <a:spcBef>
                <a:spcPts val="0"/>
              </a:spcBef>
              <a:spcAft>
                <a:spcPts val="600"/>
              </a:spcAft>
              <a:buFont typeface="Arial" panose="020B0604020202020204" pitchFamily="34" charset="0"/>
              <a:buChar char="•"/>
            </a:pPr>
            <a:r>
              <a:rPr lang="en-GB" sz="1800" noProof="0" dirty="0"/>
              <a:t>Parallel packing/unpacking using OpenMP (for East/West only) achieving 3-4× speedup</a:t>
            </a:r>
          </a:p>
          <a:p>
            <a:pPr marL="742950" lvl="1" indent="-285750" algn="l">
              <a:lnSpc>
                <a:spcPct val="120000"/>
              </a:lnSpc>
              <a:spcBef>
                <a:spcPts val="0"/>
              </a:spcBef>
              <a:spcAft>
                <a:spcPts val="600"/>
              </a:spcAft>
              <a:buFont typeface="Arial" panose="020B0604020202020204" pitchFamily="34" charset="0"/>
              <a:buChar char="•"/>
            </a:pPr>
            <a:r>
              <a:rPr lang="en-GB" sz="1800" noProof="0" dirty="0"/>
              <a:t>Self-communication optimization: If a neighbour is the same MPI rank (periodic boundaries), data is copied directly using OpenMP instead of MPI, eliminating network overhead</a:t>
            </a:r>
          </a:p>
        </p:txBody>
      </p:sp>
      <p:sp>
        <p:nvSpPr>
          <p:cNvPr id="14" name="Titolo 1">
            <a:extLst>
              <a:ext uri="{FF2B5EF4-FFF2-40B4-BE49-F238E27FC236}">
                <a16:creationId xmlns:a16="http://schemas.microsoft.com/office/drawing/2014/main" id="{07B0A998-5CB5-83E5-AD4F-DEBCCDF59795}"/>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Halo exchange: border computation</a:t>
            </a:r>
          </a:p>
        </p:txBody>
      </p:sp>
      <p:sp>
        <p:nvSpPr>
          <p:cNvPr id="2" name="CasellaDiTesto 1">
            <a:extLst>
              <a:ext uri="{FF2B5EF4-FFF2-40B4-BE49-F238E27FC236}">
                <a16:creationId xmlns:a16="http://schemas.microsoft.com/office/drawing/2014/main" id="{EC7FFE25-8420-1C5C-8D28-E499BE8A86CC}"/>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CD71D80B-45B2-5CFE-4E13-B5AC003B45E3}"/>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D4A835C8-AA67-F048-4B27-E7A139E06ABE}"/>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C1A54727-1495-D372-87F1-20844C776C58}"/>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7</a:t>
            </a:fld>
            <a:r>
              <a:rPr lang="en-GB" sz="1100" noProof="0" dirty="0"/>
              <a:t>/29</a:t>
            </a:r>
          </a:p>
        </p:txBody>
      </p:sp>
    </p:spTree>
    <p:extLst>
      <p:ext uri="{BB962C8B-B14F-4D97-AF65-F5344CB8AC3E}">
        <p14:creationId xmlns:p14="http://schemas.microsoft.com/office/powerpoint/2010/main" val="2290886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578BD-BA1D-145F-F768-C003BB52D3F9}"/>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9D0AFA94-60C5-9C4D-15F0-9DDB206CDD08}"/>
              </a:ext>
            </a:extLst>
          </p:cNvPr>
          <p:cNvSpPr>
            <a:spLocks noGrp="1"/>
          </p:cNvSpPr>
          <p:nvPr>
            <p:ph type="subTitle" idx="1"/>
          </p:nvPr>
        </p:nvSpPr>
        <p:spPr>
          <a:xfrm>
            <a:off x="822034" y="1657338"/>
            <a:ext cx="10547928" cy="4593005"/>
          </a:xfrm>
        </p:spPr>
        <p:txBody>
          <a:bodyPr>
            <a:noAutofit/>
          </a:bodyPr>
          <a:lstStyle/>
          <a:p>
            <a:pPr lvl="1" algn="l">
              <a:lnSpc>
                <a:spcPct val="120000"/>
              </a:lnSpc>
              <a:spcBef>
                <a:spcPts val="0"/>
              </a:spcBef>
              <a:spcAft>
                <a:spcPts val="600"/>
              </a:spcAft>
            </a:pPr>
            <a:endParaRPr lang="en-GB" sz="1600" noProof="0" dirty="0"/>
          </a:p>
          <a:p>
            <a:pPr marL="742950" lvl="1" indent="-285750" algn="l">
              <a:lnSpc>
                <a:spcPct val="120000"/>
              </a:lnSpc>
              <a:spcBef>
                <a:spcPts val="0"/>
              </a:spcBef>
              <a:spcAft>
                <a:spcPts val="600"/>
              </a:spcAft>
              <a:buFont typeface="Arial" panose="020B0604020202020204" pitchFamily="34" charset="0"/>
              <a:buChar char="•"/>
            </a:pPr>
            <a:endParaRPr lang="en-GB" sz="1600" noProof="0" dirty="0"/>
          </a:p>
        </p:txBody>
      </p:sp>
      <p:sp>
        <p:nvSpPr>
          <p:cNvPr id="14" name="Titolo 1">
            <a:extLst>
              <a:ext uri="{FF2B5EF4-FFF2-40B4-BE49-F238E27FC236}">
                <a16:creationId xmlns:a16="http://schemas.microsoft.com/office/drawing/2014/main" id="{1DB5D300-7011-D79C-D2AE-78980A60BF41}"/>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Communication-Computation Overlap</a:t>
            </a:r>
          </a:p>
        </p:txBody>
      </p:sp>
      <p:pic>
        <p:nvPicPr>
          <p:cNvPr id="10" name="Immagine 9" descr="Immagine che contiene testo, Carattere, linea, diagramma&#10;&#10;Il contenuto generato dall'IA potrebbe non essere corretto.">
            <a:extLst>
              <a:ext uri="{FF2B5EF4-FFF2-40B4-BE49-F238E27FC236}">
                <a16:creationId xmlns:a16="http://schemas.microsoft.com/office/drawing/2014/main" id="{0B07E3C4-E395-FA09-4F0E-E07E3A11ACE4}"/>
              </a:ext>
            </a:extLst>
          </p:cNvPr>
          <p:cNvPicPr>
            <a:picLocks noChangeAspect="1"/>
          </p:cNvPicPr>
          <p:nvPr/>
        </p:nvPicPr>
        <p:blipFill>
          <a:blip r:embed="rId2"/>
          <a:stretch>
            <a:fillRect/>
          </a:stretch>
        </p:blipFill>
        <p:spPr>
          <a:xfrm>
            <a:off x="628071" y="1475665"/>
            <a:ext cx="10935854" cy="1465551"/>
          </a:xfrm>
          <a:prstGeom prst="rect">
            <a:avLst/>
          </a:prstGeom>
        </p:spPr>
      </p:pic>
      <p:sp>
        <p:nvSpPr>
          <p:cNvPr id="11" name="Sottotitolo 2">
            <a:extLst>
              <a:ext uri="{FF2B5EF4-FFF2-40B4-BE49-F238E27FC236}">
                <a16:creationId xmlns:a16="http://schemas.microsoft.com/office/drawing/2014/main" id="{71A33604-5620-36E8-B389-CCFEDABB16FC}"/>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12" name="Sottotitolo 2">
            <a:extLst>
              <a:ext uri="{FF2B5EF4-FFF2-40B4-BE49-F238E27FC236}">
                <a16:creationId xmlns:a16="http://schemas.microsoft.com/office/drawing/2014/main" id="{4C001EE7-2F95-84D2-A7E9-46B12F0D5D23}"/>
              </a:ext>
            </a:extLst>
          </p:cNvPr>
          <p:cNvSpPr txBox="1">
            <a:spLocks/>
          </p:cNvSpPr>
          <p:nvPr/>
        </p:nvSpPr>
        <p:spPr>
          <a:xfrm>
            <a:off x="822034" y="2974585"/>
            <a:ext cx="10490631" cy="33091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800" noProof="0" dirty="0"/>
              <a:t>To hide the latency of </a:t>
            </a:r>
            <a:r>
              <a:rPr lang="en-GB" sz="1800" b="1" noProof="0" dirty="0"/>
              <a:t>MPI communications</a:t>
            </a:r>
            <a:r>
              <a:rPr lang="en-GB" sz="1800" noProof="0" dirty="0"/>
              <a:t>, a non-blocking communication strategy overlapped with computation was adopted. The halo exchange is implemented inline within the main iteration loop to minimize function call overhead and enable control over the communication pattern. The stencil update is split into two distinct kernels:</a:t>
            </a:r>
          </a:p>
          <a:p>
            <a:pPr marL="742950" lvl="1" indent="-285750" algn="l">
              <a:lnSpc>
                <a:spcPct val="120000"/>
              </a:lnSpc>
              <a:spcBef>
                <a:spcPts val="0"/>
              </a:spcBef>
              <a:spcAft>
                <a:spcPts val="600"/>
              </a:spcAft>
              <a:buFont typeface="Arial" panose="020B0604020202020204" pitchFamily="34" charset="0"/>
              <a:buChar char="•"/>
            </a:pPr>
            <a:r>
              <a:rPr lang="en-GB" sz="1400" b="1" noProof="0" dirty="0" err="1">
                <a:latin typeface="Courier New" panose="02070309020205020404" pitchFamily="49" charset="0"/>
                <a:cs typeface="Courier New" panose="02070309020205020404" pitchFamily="49" charset="0"/>
              </a:rPr>
              <a:t>update_interior</a:t>
            </a:r>
            <a:r>
              <a:rPr lang="en-GB" sz="1400" b="1" noProof="0" dirty="0">
                <a:latin typeface="Courier New" panose="02070309020205020404" pitchFamily="49" charset="0"/>
                <a:cs typeface="Courier New" panose="02070309020205020404" pitchFamily="49" charset="0"/>
              </a:rPr>
              <a:t>() </a:t>
            </a:r>
            <a:r>
              <a:rPr lang="en-GB" sz="1600" noProof="0" dirty="0"/>
              <a:t>Updates the inner core of the sub-grid, which does not depend on halo data. This function is parallelized using </a:t>
            </a:r>
            <a:r>
              <a:rPr lang="en-GB" sz="1600" b="1" noProof="0" dirty="0"/>
              <a:t>OpenMP</a:t>
            </a:r>
            <a:r>
              <a:rPr lang="en-GB" sz="1600" noProof="0" dirty="0"/>
              <a:t> </a:t>
            </a:r>
            <a:r>
              <a:rPr lang="en-GB" sz="1400" noProof="0" dirty="0">
                <a:latin typeface="Courier New" panose="02070309020205020404" pitchFamily="49" charset="0"/>
                <a:cs typeface="Courier New" panose="02070309020205020404" pitchFamily="49" charset="0"/>
              </a:rPr>
              <a:t>(#pragma </a:t>
            </a:r>
            <a:r>
              <a:rPr lang="en-GB" sz="1400" noProof="0" dirty="0" err="1">
                <a:latin typeface="Courier New" panose="02070309020205020404" pitchFamily="49" charset="0"/>
                <a:cs typeface="Courier New" panose="02070309020205020404" pitchFamily="49" charset="0"/>
              </a:rPr>
              <a:t>omp</a:t>
            </a:r>
            <a:r>
              <a:rPr lang="en-GB" sz="1400" noProof="0" dirty="0">
                <a:latin typeface="Courier New" panose="02070309020205020404" pitchFamily="49" charset="0"/>
                <a:cs typeface="Courier New" panose="02070309020205020404" pitchFamily="49" charset="0"/>
              </a:rPr>
              <a:t> parallel for schedule(static)) </a:t>
            </a:r>
            <a:r>
              <a:rPr lang="en-GB" sz="1600" noProof="0" dirty="0"/>
              <a:t>to distribute the computation across threads within each MPI process.</a:t>
            </a:r>
          </a:p>
          <a:p>
            <a:pPr marL="742950" lvl="1" indent="-285750" algn="l">
              <a:lnSpc>
                <a:spcPct val="120000"/>
              </a:lnSpc>
              <a:spcBef>
                <a:spcPts val="0"/>
              </a:spcBef>
              <a:spcAft>
                <a:spcPts val="600"/>
              </a:spcAft>
              <a:buFont typeface="Arial" panose="020B0604020202020204" pitchFamily="34" charset="0"/>
              <a:buChar char="•"/>
            </a:pPr>
            <a:r>
              <a:rPr lang="en-GB" sz="1400" b="1" noProof="0" dirty="0" err="1">
                <a:latin typeface="Courier New" panose="02070309020205020404" pitchFamily="49" charset="0"/>
                <a:cs typeface="Courier New" panose="02070309020205020404" pitchFamily="49" charset="0"/>
              </a:rPr>
              <a:t>update_borders</a:t>
            </a:r>
            <a:r>
              <a:rPr lang="en-GB" sz="1400" b="1" noProof="0" dirty="0">
                <a:latin typeface="Courier New" panose="02070309020205020404" pitchFamily="49" charset="0"/>
                <a:cs typeface="Courier New" panose="02070309020205020404" pitchFamily="49" charset="0"/>
              </a:rPr>
              <a:t>()</a:t>
            </a:r>
            <a:r>
              <a:rPr lang="en-GB" sz="1400" noProof="0" dirty="0">
                <a:latin typeface="Courier New" panose="02070309020205020404" pitchFamily="49" charset="0"/>
                <a:cs typeface="Courier New" panose="02070309020205020404" pitchFamily="49" charset="0"/>
              </a:rPr>
              <a:t> </a:t>
            </a:r>
            <a:r>
              <a:rPr lang="en-GB" sz="1600" noProof="0" dirty="0"/>
              <a:t>Updates the edges of the sub-grid, which depend on neighbour data. This function is also parallelized with </a:t>
            </a:r>
            <a:r>
              <a:rPr lang="en-GB" sz="1600" b="1" noProof="0" dirty="0"/>
              <a:t>OpenMP</a:t>
            </a:r>
            <a:r>
              <a:rPr lang="en-GB" sz="1600" noProof="0" dirty="0"/>
              <a:t>, using separate loops for horizontal and vertical borders to maximize cache efficiency.</a:t>
            </a:r>
          </a:p>
          <a:p>
            <a:pPr marL="742950" lvl="1" indent="-285750" algn="l">
              <a:lnSpc>
                <a:spcPct val="120000"/>
              </a:lnSpc>
              <a:spcBef>
                <a:spcPts val="0"/>
              </a:spcBef>
              <a:spcAft>
                <a:spcPts val="600"/>
              </a:spcAft>
              <a:buFont typeface="Arial" panose="020B0604020202020204" pitchFamily="34" charset="0"/>
              <a:buChar char="•"/>
            </a:pPr>
            <a:endParaRPr lang="en-GB" sz="1600" noProof="0" dirty="0"/>
          </a:p>
          <a:p>
            <a:pPr marL="742950" lvl="1" indent="-285750" algn="l">
              <a:lnSpc>
                <a:spcPct val="120000"/>
              </a:lnSpc>
              <a:spcBef>
                <a:spcPts val="0"/>
              </a:spcBef>
              <a:spcAft>
                <a:spcPts val="600"/>
              </a:spcAft>
              <a:buFont typeface="Arial" panose="020B0604020202020204" pitchFamily="34" charset="0"/>
              <a:buChar char="•"/>
            </a:pPr>
            <a:endParaRPr lang="en-GB" sz="1200" noProof="0" dirty="0"/>
          </a:p>
        </p:txBody>
      </p:sp>
      <p:sp>
        <p:nvSpPr>
          <p:cNvPr id="13" name="CasellaDiTesto 12">
            <a:extLst>
              <a:ext uri="{FF2B5EF4-FFF2-40B4-BE49-F238E27FC236}">
                <a16:creationId xmlns:a16="http://schemas.microsoft.com/office/drawing/2014/main" id="{85E7A9B4-D4EB-E906-96CE-D852D69E4495}"/>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5" name="CasellaDiTesto 14">
            <a:extLst>
              <a:ext uri="{FF2B5EF4-FFF2-40B4-BE49-F238E27FC236}">
                <a16:creationId xmlns:a16="http://schemas.microsoft.com/office/drawing/2014/main" id="{0C003EF7-FDF4-122E-F0E1-A8942A706DDF}"/>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6" name="CasellaDiTesto 15">
            <a:extLst>
              <a:ext uri="{FF2B5EF4-FFF2-40B4-BE49-F238E27FC236}">
                <a16:creationId xmlns:a16="http://schemas.microsoft.com/office/drawing/2014/main" id="{124DBAEF-A40F-588D-594E-AD9821091519}"/>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7" name="CasellaDiTesto 16">
            <a:extLst>
              <a:ext uri="{FF2B5EF4-FFF2-40B4-BE49-F238E27FC236}">
                <a16:creationId xmlns:a16="http://schemas.microsoft.com/office/drawing/2014/main" id="{654CED8B-5DD9-E3DC-E967-EF834B56E2F6}"/>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8</a:t>
            </a:fld>
            <a:r>
              <a:rPr lang="en-GB" sz="1100" noProof="0" dirty="0"/>
              <a:t>/29</a:t>
            </a:r>
          </a:p>
        </p:txBody>
      </p:sp>
    </p:spTree>
    <p:extLst>
      <p:ext uri="{BB962C8B-B14F-4D97-AF65-F5344CB8AC3E}">
        <p14:creationId xmlns:p14="http://schemas.microsoft.com/office/powerpoint/2010/main" val="2994089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0D4BC-1CA3-FDE2-D675-F36C595CB853}"/>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A9A6CEDF-D463-53D3-152A-650F1AE0F75F}"/>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Halo Exchange Phases 1/4</a:t>
            </a:r>
          </a:p>
        </p:txBody>
      </p:sp>
      <p:pic>
        <p:nvPicPr>
          <p:cNvPr id="10" name="Immagine 9" descr="Immagine che contiene testo, Carattere, linea, diagramma&#10;&#10;Il contenuto generato dall'IA potrebbe non essere corretto.">
            <a:extLst>
              <a:ext uri="{FF2B5EF4-FFF2-40B4-BE49-F238E27FC236}">
                <a16:creationId xmlns:a16="http://schemas.microsoft.com/office/drawing/2014/main" id="{003033E7-7CF5-7DF9-3620-6C280167C795}"/>
              </a:ext>
            </a:extLst>
          </p:cNvPr>
          <p:cNvPicPr>
            <a:picLocks noChangeAspect="1"/>
          </p:cNvPicPr>
          <p:nvPr/>
        </p:nvPicPr>
        <p:blipFill>
          <a:blip r:embed="rId2"/>
          <a:stretch>
            <a:fillRect/>
          </a:stretch>
        </p:blipFill>
        <p:spPr>
          <a:xfrm>
            <a:off x="628071" y="1516125"/>
            <a:ext cx="10935854" cy="1465551"/>
          </a:xfrm>
          <a:prstGeom prst="rect">
            <a:avLst/>
          </a:prstGeom>
        </p:spPr>
      </p:pic>
      <p:sp>
        <p:nvSpPr>
          <p:cNvPr id="11" name="Sottotitolo 2">
            <a:extLst>
              <a:ext uri="{FF2B5EF4-FFF2-40B4-BE49-F238E27FC236}">
                <a16:creationId xmlns:a16="http://schemas.microsoft.com/office/drawing/2014/main" id="{53F98410-232A-42B1-CBBF-508CD76A954A}"/>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5" name="Sottotitolo 2">
            <a:extLst>
              <a:ext uri="{FF2B5EF4-FFF2-40B4-BE49-F238E27FC236}">
                <a16:creationId xmlns:a16="http://schemas.microsoft.com/office/drawing/2014/main" id="{A963B995-C711-1C95-6FC5-E21A9317A134}"/>
              </a:ext>
            </a:extLst>
          </p:cNvPr>
          <p:cNvSpPr txBox="1">
            <a:spLocks/>
          </p:cNvSpPr>
          <p:nvPr/>
        </p:nvSpPr>
        <p:spPr>
          <a:xfrm>
            <a:off x="822034" y="3015044"/>
            <a:ext cx="10490631" cy="326866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800" b="1" noProof="0" dirty="0"/>
              <a:t>Phase 1 - Halo Exchange Start (inline implementation):</a:t>
            </a:r>
          </a:p>
          <a:p>
            <a:pPr marL="285750" indent="-285750" algn="l">
              <a:lnSpc>
                <a:spcPct val="120000"/>
              </a:lnSpc>
              <a:spcBef>
                <a:spcPts val="0"/>
              </a:spcBef>
              <a:spcAft>
                <a:spcPts val="600"/>
              </a:spcAft>
              <a:buFont typeface="Arial" panose="020B0604020202020204" pitchFamily="34" charset="0"/>
              <a:buChar char="•"/>
            </a:pPr>
            <a:r>
              <a:rPr lang="en-GB" sz="1800" b="1" noProof="0" dirty="0"/>
              <a:t>East/West borders</a:t>
            </a:r>
            <a:r>
              <a:rPr lang="en-GB" sz="1800" noProof="0" dirty="0"/>
              <a:t>: Pack non-contiguous column data into contiguous send buffers using </a:t>
            </a:r>
            <a:r>
              <a:rPr lang="en-GB" sz="1800" b="1" noProof="0" dirty="0"/>
              <a:t>OpenMP</a:t>
            </a:r>
            <a:r>
              <a:rPr lang="en-GB" sz="1800" noProof="0" dirty="0"/>
              <a:t> parallelization.</a:t>
            </a:r>
          </a:p>
          <a:p>
            <a:pPr marL="285750" indent="-285750" algn="l">
              <a:lnSpc>
                <a:spcPct val="120000"/>
              </a:lnSpc>
              <a:spcBef>
                <a:spcPts val="0"/>
              </a:spcBef>
              <a:spcAft>
                <a:spcPts val="600"/>
              </a:spcAft>
              <a:buFont typeface="Arial" panose="020B0604020202020204" pitchFamily="34" charset="0"/>
              <a:buChar char="•"/>
            </a:pPr>
            <a:r>
              <a:rPr lang="en-GB" sz="1800" b="1" noProof="0" dirty="0"/>
              <a:t>North/South borders</a:t>
            </a:r>
            <a:r>
              <a:rPr lang="en-GB" sz="1800" noProof="0" dirty="0"/>
              <a:t>: Set up direct pointers to contiguous row data (no packing needed).</a:t>
            </a:r>
          </a:p>
          <a:p>
            <a:pPr marL="285750" indent="-285750" algn="l">
              <a:lnSpc>
                <a:spcPct val="120000"/>
              </a:lnSpc>
              <a:spcBef>
                <a:spcPts val="0"/>
              </a:spcBef>
              <a:spcAft>
                <a:spcPts val="600"/>
              </a:spcAft>
              <a:buFont typeface="Arial" panose="020B0604020202020204" pitchFamily="34" charset="0"/>
              <a:buChar char="•"/>
            </a:pPr>
            <a:r>
              <a:rPr lang="en-GB" sz="1800" b="1" noProof="0" dirty="0"/>
              <a:t>Post non-blocking receives </a:t>
            </a:r>
            <a:r>
              <a:rPr lang="en-GB" sz="1800" noProof="0" dirty="0"/>
              <a:t>(</a:t>
            </a:r>
            <a:r>
              <a:rPr lang="en-GB" sz="1600" noProof="0" dirty="0" err="1">
                <a:latin typeface="Courier New" panose="02070309020205020404" pitchFamily="49" charset="0"/>
                <a:cs typeface="Courier New" panose="02070309020205020404" pitchFamily="49" charset="0"/>
              </a:rPr>
              <a:t>MPI_Irecv</a:t>
            </a:r>
            <a:r>
              <a:rPr lang="en-GB" sz="1800" noProof="0" dirty="0"/>
              <a:t>) for all neighbours, followed by non-blocking sends (</a:t>
            </a:r>
            <a:r>
              <a:rPr lang="en-GB" sz="1600" noProof="0" dirty="0" err="1">
                <a:latin typeface="Courier New" panose="02070309020205020404" pitchFamily="49" charset="0"/>
                <a:cs typeface="Courier New" panose="02070309020205020404" pitchFamily="49" charset="0"/>
              </a:rPr>
              <a:t>MPI_Isend</a:t>
            </a:r>
            <a:r>
              <a:rPr lang="en-GB" sz="1800" noProof="0" dirty="0"/>
              <a:t>).</a:t>
            </a:r>
          </a:p>
          <a:p>
            <a:pPr marL="285750" indent="-285750" algn="l">
              <a:lnSpc>
                <a:spcPct val="120000"/>
              </a:lnSpc>
              <a:spcBef>
                <a:spcPts val="0"/>
              </a:spcBef>
              <a:spcAft>
                <a:spcPts val="600"/>
              </a:spcAft>
              <a:buFont typeface="Arial" panose="020B0604020202020204" pitchFamily="34" charset="0"/>
              <a:buChar char="•"/>
            </a:pPr>
            <a:r>
              <a:rPr lang="en-GB" sz="1800" b="1" noProof="0" dirty="0"/>
              <a:t>Self-communication optimization</a:t>
            </a:r>
            <a:r>
              <a:rPr lang="en-GB" sz="1800" noProof="0" dirty="0"/>
              <a:t>: If a neighbour is the same MPI rank (if periodic boundaries is active), copy data directly using OpenMP parallel loops instead of MPI calls, eliminating network overhead and reducing latency.</a:t>
            </a:r>
          </a:p>
          <a:p>
            <a:pPr marL="742950" lvl="1" indent="-285750" algn="l">
              <a:lnSpc>
                <a:spcPct val="120000"/>
              </a:lnSpc>
              <a:spcBef>
                <a:spcPts val="0"/>
              </a:spcBef>
              <a:spcAft>
                <a:spcPts val="600"/>
              </a:spcAft>
              <a:buFont typeface="Arial" panose="020B0604020202020204" pitchFamily="34" charset="0"/>
              <a:buChar char="•"/>
            </a:pPr>
            <a:endParaRPr lang="en-GB" sz="1600" noProof="0" dirty="0"/>
          </a:p>
          <a:p>
            <a:pPr marL="742950" lvl="1" indent="-285750" algn="l">
              <a:lnSpc>
                <a:spcPct val="120000"/>
              </a:lnSpc>
              <a:spcBef>
                <a:spcPts val="0"/>
              </a:spcBef>
              <a:spcAft>
                <a:spcPts val="600"/>
              </a:spcAft>
              <a:buFont typeface="Arial" panose="020B0604020202020204" pitchFamily="34" charset="0"/>
              <a:buChar char="•"/>
            </a:pPr>
            <a:endParaRPr lang="en-GB" sz="1200" noProof="0" dirty="0"/>
          </a:p>
        </p:txBody>
      </p:sp>
      <p:sp>
        <p:nvSpPr>
          <p:cNvPr id="13" name="CasellaDiTesto 12">
            <a:extLst>
              <a:ext uri="{FF2B5EF4-FFF2-40B4-BE49-F238E27FC236}">
                <a16:creationId xmlns:a16="http://schemas.microsoft.com/office/drawing/2014/main" id="{F2A09249-1A66-7445-F488-A0D9CDBCBB40}"/>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5" name="CasellaDiTesto 14">
            <a:extLst>
              <a:ext uri="{FF2B5EF4-FFF2-40B4-BE49-F238E27FC236}">
                <a16:creationId xmlns:a16="http://schemas.microsoft.com/office/drawing/2014/main" id="{53975537-B34B-F630-070C-EC02CE514113}"/>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6" name="CasellaDiTesto 15">
            <a:extLst>
              <a:ext uri="{FF2B5EF4-FFF2-40B4-BE49-F238E27FC236}">
                <a16:creationId xmlns:a16="http://schemas.microsoft.com/office/drawing/2014/main" id="{2B808435-E482-15C4-29A8-2B059DCB63AF}"/>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7" name="CasellaDiTesto 16">
            <a:extLst>
              <a:ext uri="{FF2B5EF4-FFF2-40B4-BE49-F238E27FC236}">
                <a16:creationId xmlns:a16="http://schemas.microsoft.com/office/drawing/2014/main" id="{B4F42FA9-D224-8BD1-AD27-FC5671AE80C0}"/>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9</a:t>
            </a:fld>
            <a:r>
              <a:rPr lang="en-GB" sz="1100" noProof="0" dirty="0"/>
              <a:t>/29</a:t>
            </a:r>
          </a:p>
        </p:txBody>
      </p:sp>
    </p:spTree>
    <p:extLst>
      <p:ext uri="{BB962C8B-B14F-4D97-AF65-F5344CB8AC3E}">
        <p14:creationId xmlns:p14="http://schemas.microsoft.com/office/powerpoint/2010/main" val="1469560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7A2EA-52B2-9270-54E2-A07BE640D343}"/>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2A3C100D-64A2-D280-6DF1-E6451516F49C}"/>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Halo Exchange Phases 2/4</a:t>
            </a:r>
          </a:p>
        </p:txBody>
      </p:sp>
      <p:pic>
        <p:nvPicPr>
          <p:cNvPr id="10" name="Immagine 9" descr="Immagine che contiene testo, Carattere, linea, diagramma&#10;&#10;Il contenuto generato dall'IA potrebbe non essere corretto.">
            <a:extLst>
              <a:ext uri="{FF2B5EF4-FFF2-40B4-BE49-F238E27FC236}">
                <a16:creationId xmlns:a16="http://schemas.microsoft.com/office/drawing/2014/main" id="{BA242D0E-B455-78AF-1949-12DDDD5351C0}"/>
              </a:ext>
            </a:extLst>
          </p:cNvPr>
          <p:cNvPicPr>
            <a:picLocks noChangeAspect="1"/>
          </p:cNvPicPr>
          <p:nvPr/>
        </p:nvPicPr>
        <p:blipFill>
          <a:blip r:embed="rId2"/>
          <a:stretch>
            <a:fillRect/>
          </a:stretch>
        </p:blipFill>
        <p:spPr>
          <a:xfrm>
            <a:off x="628071" y="1516125"/>
            <a:ext cx="10935854" cy="1465551"/>
          </a:xfrm>
          <a:prstGeom prst="rect">
            <a:avLst/>
          </a:prstGeom>
        </p:spPr>
      </p:pic>
      <p:sp>
        <p:nvSpPr>
          <p:cNvPr id="11" name="Sottotitolo 2">
            <a:extLst>
              <a:ext uri="{FF2B5EF4-FFF2-40B4-BE49-F238E27FC236}">
                <a16:creationId xmlns:a16="http://schemas.microsoft.com/office/drawing/2014/main" id="{7FC4C23D-A333-BDA5-FF7F-F12AC6B6DF81}"/>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5" name="Sottotitolo 2">
            <a:extLst>
              <a:ext uri="{FF2B5EF4-FFF2-40B4-BE49-F238E27FC236}">
                <a16:creationId xmlns:a16="http://schemas.microsoft.com/office/drawing/2014/main" id="{C04FB580-E697-8316-25E3-BCCE43324575}"/>
              </a:ext>
            </a:extLst>
          </p:cNvPr>
          <p:cNvSpPr txBox="1">
            <a:spLocks/>
          </p:cNvSpPr>
          <p:nvPr/>
        </p:nvSpPr>
        <p:spPr>
          <a:xfrm>
            <a:off x="822034" y="3429000"/>
            <a:ext cx="10490631" cy="27614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800" b="1" noProof="0" dirty="0"/>
              <a:t>Phase 2 - Computation Overlap:</a:t>
            </a:r>
          </a:p>
          <a:p>
            <a:pPr marL="285750" indent="-285750" algn="l">
              <a:lnSpc>
                <a:spcPct val="120000"/>
              </a:lnSpc>
              <a:spcBef>
                <a:spcPts val="0"/>
              </a:spcBef>
              <a:spcAft>
                <a:spcPts val="600"/>
              </a:spcAft>
              <a:buFont typeface="Arial" panose="020B0604020202020204" pitchFamily="34" charset="0"/>
              <a:buChar char="•"/>
            </a:pPr>
            <a:r>
              <a:rPr lang="en-GB" sz="1800" noProof="0" dirty="0"/>
              <a:t>Immediately call </a:t>
            </a:r>
            <a:r>
              <a:rPr lang="en-GB" sz="1600" noProof="0" dirty="0" err="1">
                <a:latin typeface="Courier New" panose="02070309020205020404" pitchFamily="49" charset="0"/>
                <a:cs typeface="Courier New" panose="02070309020205020404" pitchFamily="49" charset="0"/>
              </a:rPr>
              <a:t>update_interior</a:t>
            </a:r>
            <a:r>
              <a:rPr lang="en-GB" sz="1600" noProof="0" dirty="0">
                <a:latin typeface="Courier New" panose="02070309020205020404" pitchFamily="49" charset="0"/>
                <a:cs typeface="Courier New" panose="02070309020205020404" pitchFamily="49" charset="0"/>
              </a:rPr>
              <a:t>()</a:t>
            </a:r>
            <a:r>
              <a:rPr lang="en-GB" sz="1800" noProof="0" dirty="0"/>
              <a:t>to compute interior points while MPI transfers halo data in the background. This function uses OpenMP to parallelize the computation across threads within the MPI process.</a:t>
            </a:r>
          </a:p>
        </p:txBody>
      </p:sp>
      <p:sp>
        <p:nvSpPr>
          <p:cNvPr id="2" name="CasellaDiTesto 1">
            <a:extLst>
              <a:ext uri="{FF2B5EF4-FFF2-40B4-BE49-F238E27FC236}">
                <a16:creationId xmlns:a16="http://schemas.microsoft.com/office/drawing/2014/main" id="{80E118B1-FAA8-DEE2-DF25-C0B71D2D3D7F}"/>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3" name="CasellaDiTesto 2">
            <a:extLst>
              <a:ext uri="{FF2B5EF4-FFF2-40B4-BE49-F238E27FC236}">
                <a16:creationId xmlns:a16="http://schemas.microsoft.com/office/drawing/2014/main" id="{99DC782F-67C2-A8A6-19C5-71E8E16323EB}"/>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4" name="CasellaDiTesto 3">
            <a:extLst>
              <a:ext uri="{FF2B5EF4-FFF2-40B4-BE49-F238E27FC236}">
                <a16:creationId xmlns:a16="http://schemas.microsoft.com/office/drawing/2014/main" id="{FED9BEE8-3877-50B2-22F9-84B7DC32750E}"/>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2" name="CasellaDiTesto 11">
            <a:extLst>
              <a:ext uri="{FF2B5EF4-FFF2-40B4-BE49-F238E27FC236}">
                <a16:creationId xmlns:a16="http://schemas.microsoft.com/office/drawing/2014/main" id="{7EE7C4AF-79F1-C940-F8F3-61F4A2FD2FC6}"/>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10</a:t>
            </a:fld>
            <a:r>
              <a:rPr lang="en-GB" sz="1100" noProof="0" dirty="0"/>
              <a:t>/29</a:t>
            </a:r>
          </a:p>
        </p:txBody>
      </p:sp>
    </p:spTree>
    <p:extLst>
      <p:ext uri="{BB962C8B-B14F-4D97-AF65-F5344CB8AC3E}">
        <p14:creationId xmlns:p14="http://schemas.microsoft.com/office/powerpoint/2010/main" val="3350520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30768-3631-2AF6-DEC6-B24ECC95C793}"/>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97293814-0F03-96FA-3616-C301898BD230}"/>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Halo Exchange Phases 3/4</a:t>
            </a:r>
          </a:p>
        </p:txBody>
      </p:sp>
      <p:pic>
        <p:nvPicPr>
          <p:cNvPr id="10" name="Immagine 9" descr="Immagine che contiene testo, Carattere, linea, diagramma&#10;&#10;Il contenuto generato dall'IA potrebbe non essere corretto.">
            <a:extLst>
              <a:ext uri="{FF2B5EF4-FFF2-40B4-BE49-F238E27FC236}">
                <a16:creationId xmlns:a16="http://schemas.microsoft.com/office/drawing/2014/main" id="{2DC6528F-F6C7-0A2C-3C56-FCD2FF49EB6F}"/>
              </a:ext>
            </a:extLst>
          </p:cNvPr>
          <p:cNvPicPr>
            <a:picLocks noChangeAspect="1"/>
          </p:cNvPicPr>
          <p:nvPr/>
        </p:nvPicPr>
        <p:blipFill>
          <a:blip r:embed="rId2"/>
          <a:stretch>
            <a:fillRect/>
          </a:stretch>
        </p:blipFill>
        <p:spPr>
          <a:xfrm>
            <a:off x="628071" y="1516125"/>
            <a:ext cx="10935854" cy="1465551"/>
          </a:xfrm>
          <a:prstGeom prst="rect">
            <a:avLst/>
          </a:prstGeom>
        </p:spPr>
      </p:pic>
      <p:sp>
        <p:nvSpPr>
          <p:cNvPr id="11" name="Sottotitolo 2">
            <a:extLst>
              <a:ext uri="{FF2B5EF4-FFF2-40B4-BE49-F238E27FC236}">
                <a16:creationId xmlns:a16="http://schemas.microsoft.com/office/drawing/2014/main" id="{FD3C8D74-29B5-BD39-5A98-2D6EF223B00E}"/>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5" name="Sottotitolo 2">
            <a:extLst>
              <a:ext uri="{FF2B5EF4-FFF2-40B4-BE49-F238E27FC236}">
                <a16:creationId xmlns:a16="http://schemas.microsoft.com/office/drawing/2014/main" id="{CD4BE2B6-148F-79C2-EBFC-8007EDA71605}"/>
              </a:ext>
            </a:extLst>
          </p:cNvPr>
          <p:cNvSpPr txBox="1">
            <a:spLocks/>
          </p:cNvSpPr>
          <p:nvPr/>
        </p:nvSpPr>
        <p:spPr>
          <a:xfrm>
            <a:off x="822034" y="3428999"/>
            <a:ext cx="10490631" cy="276140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1800"/>
              </a:spcBef>
              <a:spcAft>
                <a:spcPts val="600"/>
              </a:spcAft>
            </a:pPr>
            <a:r>
              <a:rPr lang="en-GB" sz="1800" b="1" noProof="0" dirty="0"/>
              <a:t>Phase 3 - Halo Exchange Finish:</a:t>
            </a:r>
          </a:p>
          <a:p>
            <a:pPr marL="285750" indent="-285750" algn="l">
              <a:lnSpc>
                <a:spcPct val="120000"/>
              </a:lnSpc>
              <a:spcBef>
                <a:spcPts val="0"/>
              </a:spcBef>
              <a:spcAft>
                <a:spcPts val="600"/>
              </a:spcAft>
              <a:buFont typeface="Arial" panose="020B0604020202020204" pitchFamily="34" charset="0"/>
              <a:buChar char="•"/>
            </a:pPr>
            <a:r>
              <a:rPr lang="en-GB" sz="1800" noProof="0" dirty="0"/>
              <a:t>Call </a:t>
            </a:r>
            <a:r>
              <a:rPr lang="en-GB" sz="1600" noProof="0" dirty="0" err="1">
                <a:latin typeface="Courier New" panose="02070309020205020404" pitchFamily="49" charset="0"/>
                <a:cs typeface="Courier New" panose="02070309020205020404" pitchFamily="49" charset="0"/>
              </a:rPr>
              <a:t>MPI_Waitall</a:t>
            </a:r>
            <a:r>
              <a:rPr lang="en-GB" sz="1600" noProof="0" dirty="0">
                <a:latin typeface="Courier New" panose="02070309020205020404" pitchFamily="49" charset="0"/>
                <a:cs typeface="Courier New" panose="02070309020205020404" pitchFamily="49" charset="0"/>
              </a:rPr>
              <a:t>()</a:t>
            </a:r>
            <a:r>
              <a:rPr lang="en-GB" sz="1800" noProof="0" dirty="0"/>
              <a:t>to ensure all communications are complete.</a:t>
            </a:r>
          </a:p>
          <a:p>
            <a:pPr marL="285750" indent="-285750" algn="l">
              <a:lnSpc>
                <a:spcPct val="120000"/>
              </a:lnSpc>
              <a:spcBef>
                <a:spcPts val="0"/>
              </a:spcBef>
              <a:spcAft>
                <a:spcPts val="600"/>
              </a:spcAft>
              <a:buFont typeface="Arial" panose="020B0604020202020204" pitchFamily="34" charset="0"/>
              <a:buChar char="•"/>
            </a:pPr>
            <a:r>
              <a:rPr lang="en-GB" sz="1800" noProof="0" dirty="0"/>
              <a:t>East/West: Unpack received data from buffers into halo regions using OpenMP parallelization.</a:t>
            </a:r>
          </a:p>
          <a:p>
            <a:pPr marL="285750" indent="-285750" algn="l">
              <a:lnSpc>
                <a:spcPct val="120000"/>
              </a:lnSpc>
              <a:spcBef>
                <a:spcPts val="0"/>
              </a:spcBef>
              <a:spcAft>
                <a:spcPts val="600"/>
              </a:spcAft>
              <a:buFont typeface="Arial" panose="020B0604020202020204" pitchFamily="34" charset="0"/>
              <a:buChar char="•"/>
            </a:pPr>
            <a:r>
              <a:rPr lang="en-GB" sz="1800" noProof="0" dirty="0"/>
              <a:t>North/South: Data is already in place via direct pointers (no unpacking needed).</a:t>
            </a:r>
          </a:p>
          <a:p>
            <a:pPr marL="742950" lvl="1" indent="-285750" algn="l">
              <a:lnSpc>
                <a:spcPct val="120000"/>
              </a:lnSpc>
              <a:spcBef>
                <a:spcPts val="0"/>
              </a:spcBef>
              <a:spcAft>
                <a:spcPts val="600"/>
              </a:spcAft>
              <a:buFont typeface="Arial" panose="020B0604020202020204" pitchFamily="34" charset="0"/>
              <a:buChar char="•"/>
            </a:pPr>
            <a:endParaRPr lang="en-GB" sz="1200" noProof="0" dirty="0"/>
          </a:p>
        </p:txBody>
      </p:sp>
      <p:sp>
        <p:nvSpPr>
          <p:cNvPr id="2" name="CasellaDiTesto 1">
            <a:extLst>
              <a:ext uri="{FF2B5EF4-FFF2-40B4-BE49-F238E27FC236}">
                <a16:creationId xmlns:a16="http://schemas.microsoft.com/office/drawing/2014/main" id="{71E73B01-4572-4D36-E436-3F629368215D}"/>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3" name="CasellaDiTesto 2">
            <a:extLst>
              <a:ext uri="{FF2B5EF4-FFF2-40B4-BE49-F238E27FC236}">
                <a16:creationId xmlns:a16="http://schemas.microsoft.com/office/drawing/2014/main" id="{43869D5E-CF5A-F1A9-BC07-6A52E03DAA48}"/>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4" name="CasellaDiTesto 3">
            <a:extLst>
              <a:ext uri="{FF2B5EF4-FFF2-40B4-BE49-F238E27FC236}">
                <a16:creationId xmlns:a16="http://schemas.microsoft.com/office/drawing/2014/main" id="{02F0750D-E9CC-A934-6C4F-FA746E5E5DD8}"/>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2" name="CasellaDiTesto 11">
            <a:extLst>
              <a:ext uri="{FF2B5EF4-FFF2-40B4-BE49-F238E27FC236}">
                <a16:creationId xmlns:a16="http://schemas.microsoft.com/office/drawing/2014/main" id="{E6BD750A-25AB-6729-E2FE-08421A09CE67}"/>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11</a:t>
            </a:fld>
            <a:r>
              <a:rPr lang="en-GB" sz="1100" noProof="0" dirty="0"/>
              <a:t>/29</a:t>
            </a:r>
          </a:p>
        </p:txBody>
      </p:sp>
    </p:spTree>
    <p:extLst>
      <p:ext uri="{BB962C8B-B14F-4D97-AF65-F5344CB8AC3E}">
        <p14:creationId xmlns:p14="http://schemas.microsoft.com/office/powerpoint/2010/main" val="2031498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1E7CC-4280-4D66-52F4-076B5E0E4202}"/>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E0E0EAA5-2020-1B02-4BE3-EFD877BE707B}"/>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Halo Exchange Phases 4/4</a:t>
            </a:r>
          </a:p>
        </p:txBody>
      </p:sp>
      <p:pic>
        <p:nvPicPr>
          <p:cNvPr id="10" name="Immagine 9" descr="Immagine che contiene testo, Carattere, linea, diagramma&#10;&#10;Il contenuto generato dall'IA potrebbe non essere corretto.">
            <a:extLst>
              <a:ext uri="{FF2B5EF4-FFF2-40B4-BE49-F238E27FC236}">
                <a16:creationId xmlns:a16="http://schemas.microsoft.com/office/drawing/2014/main" id="{6F02B8E3-FBC1-98F9-476C-D3C6379D7CA1}"/>
              </a:ext>
            </a:extLst>
          </p:cNvPr>
          <p:cNvPicPr>
            <a:picLocks noChangeAspect="1"/>
          </p:cNvPicPr>
          <p:nvPr/>
        </p:nvPicPr>
        <p:blipFill>
          <a:blip r:embed="rId2"/>
          <a:stretch>
            <a:fillRect/>
          </a:stretch>
        </p:blipFill>
        <p:spPr>
          <a:xfrm>
            <a:off x="628071" y="1516125"/>
            <a:ext cx="10935854" cy="1465551"/>
          </a:xfrm>
          <a:prstGeom prst="rect">
            <a:avLst/>
          </a:prstGeom>
        </p:spPr>
      </p:pic>
      <p:sp>
        <p:nvSpPr>
          <p:cNvPr id="11" name="Sottotitolo 2">
            <a:extLst>
              <a:ext uri="{FF2B5EF4-FFF2-40B4-BE49-F238E27FC236}">
                <a16:creationId xmlns:a16="http://schemas.microsoft.com/office/drawing/2014/main" id="{6135B2C1-872D-1FE2-C041-6EDA0C28537D}"/>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5" name="Sottotitolo 2">
            <a:extLst>
              <a:ext uri="{FF2B5EF4-FFF2-40B4-BE49-F238E27FC236}">
                <a16:creationId xmlns:a16="http://schemas.microsoft.com/office/drawing/2014/main" id="{A32CFE48-6D60-FE53-2717-2DB2779029E4}"/>
              </a:ext>
            </a:extLst>
          </p:cNvPr>
          <p:cNvSpPr txBox="1">
            <a:spLocks/>
          </p:cNvSpPr>
          <p:nvPr/>
        </p:nvSpPr>
        <p:spPr>
          <a:xfrm>
            <a:off x="822034" y="3428999"/>
            <a:ext cx="10490631" cy="276140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800" b="1" noProof="0" dirty="0"/>
              <a:t>Phase 4 – Border Computation:</a:t>
            </a:r>
          </a:p>
          <a:p>
            <a:pPr marL="285750" indent="-285750" algn="l">
              <a:lnSpc>
                <a:spcPct val="120000"/>
              </a:lnSpc>
              <a:spcBef>
                <a:spcPts val="0"/>
              </a:spcBef>
              <a:spcAft>
                <a:spcPts val="600"/>
              </a:spcAft>
              <a:buFont typeface="Arial" panose="020B0604020202020204" pitchFamily="34" charset="0"/>
              <a:buChar char="•"/>
            </a:pPr>
            <a:r>
              <a:rPr lang="en-GB" sz="1800" noProof="0" dirty="0"/>
              <a:t>Call </a:t>
            </a:r>
            <a:r>
              <a:rPr lang="en-GB" sz="1600" noProof="0" dirty="0" err="1">
                <a:latin typeface="Courier New" panose="02070309020205020404" pitchFamily="49" charset="0"/>
                <a:cs typeface="Courier New" panose="02070309020205020404" pitchFamily="49" charset="0"/>
              </a:rPr>
              <a:t>update_borders</a:t>
            </a:r>
            <a:r>
              <a:rPr lang="en-GB" sz="1600" noProof="0" dirty="0">
                <a:latin typeface="Courier New" panose="02070309020205020404" pitchFamily="49" charset="0"/>
                <a:cs typeface="Courier New" panose="02070309020205020404" pitchFamily="49" charset="0"/>
              </a:rPr>
              <a:t>()</a:t>
            </a:r>
            <a:r>
              <a:rPr lang="en-GB" sz="1800" noProof="0" dirty="0"/>
              <a:t>to compute border points using the fresh halo data. This function also uses OpenMP parallelization, with separate loops for horizontal and vertical borders to optimize cache access patterns.</a:t>
            </a:r>
            <a:endParaRPr lang="en-GB" sz="1400" noProof="0" dirty="0"/>
          </a:p>
        </p:txBody>
      </p:sp>
      <p:sp>
        <p:nvSpPr>
          <p:cNvPr id="4" name="CasellaDiTesto 3">
            <a:extLst>
              <a:ext uri="{FF2B5EF4-FFF2-40B4-BE49-F238E27FC236}">
                <a16:creationId xmlns:a16="http://schemas.microsoft.com/office/drawing/2014/main" id="{3D6A9E18-3850-50C4-2771-E3981BF35FBD}"/>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2" name="CasellaDiTesto 11">
            <a:extLst>
              <a:ext uri="{FF2B5EF4-FFF2-40B4-BE49-F238E27FC236}">
                <a16:creationId xmlns:a16="http://schemas.microsoft.com/office/drawing/2014/main" id="{F23C2515-AF57-EDC3-B80B-7EB6472D495A}"/>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3" name="CasellaDiTesto 12">
            <a:extLst>
              <a:ext uri="{FF2B5EF4-FFF2-40B4-BE49-F238E27FC236}">
                <a16:creationId xmlns:a16="http://schemas.microsoft.com/office/drawing/2014/main" id="{B59BD7D1-156C-D67B-02E4-0D1315F18D13}"/>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5" name="CasellaDiTesto 14">
            <a:extLst>
              <a:ext uri="{FF2B5EF4-FFF2-40B4-BE49-F238E27FC236}">
                <a16:creationId xmlns:a16="http://schemas.microsoft.com/office/drawing/2014/main" id="{852EDDEF-D70E-DF1C-A641-5E2B6F9E7370}"/>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12</a:t>
            </a:fld>
            <a:r>
              <a:rPr lang="en-GB" sz="1100" noProof="0" dirty="0"/>
              <a:t>/29</a:t>
            </a:r>
          </a:p>
        </p:txBody>
      </p:sp>
    </p:spTree>
    <p:extLst>
      <p:ext uri="{BB962C8B-B14F-4D97-AF65-F5344CB8AC3E}">
        <p14:creationId xmlns:p14="http://schemas.microsoft.com/office/powerpoint/2010/main" val="270107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CDED7-5A3D-0DC8-FB32-8EF00ADCEF7E}"/>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4DD7F9CE-0EA6-E85E-6C32-18E4306E1DF3}"/>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Parallel Stencil: GANTT Chart</a:t>
            </a:r>
          </a:p>
        </p:txBody>
      </p:sp>
      <p:sp>
        <p:nvSpPr>
          <p:cNvPr id="11" name="Sottotitolo 2">
            <a:extLst>
              <a:ext uri="{FF2B5EF4-FFF2-40B4-BE49-F238E27FC236}">
                <a16:creationId xmlns:a16="http://schemas.microsoft.com/office/drawing/2014/main" id="{D1B3488B-454C-CFD8-B8D3-82439D5A40C5}"/>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pic>
        <p:nvPicPr>
          <p:cNvPr id="13" name="Elemento grafico 12">
            <a:extLst>
              <a:ext uri="{FF2B5EF4-FFF2-40B4-BE49-F238E27FC236}">
                <a16:creationId xmlns:a16="http://schemas.microsoft.com/office/drawing/2014/main" id="{845355C8-AE40-FB35-DD18-4D3458B1CC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2033" y="1760439"/>
            <a:ext cx="10546739" cy="2884390"/>
          </a:xfrm>
          <a:prstGeom prst="rect">
            <a:avLst/>
          </a:prstGeom>
        </p:spPr>
      </p:pic>
      <p:sp>
        <p:nvSpPr>
          <p:cNvPr id="15" name="Sottotitolo 2">
            <a:extLst>
              <a:ext uri="{FF2B5EF4-FFF2-40B4-BE49-F238E27FC236}">
                <a16:creationId xmlns:a16="http://schemas.microsoft.com/office/drawing/2014/main" id="{3A087F83-3D2D-FD01-C4F0-D36503CD9AF3}"/>
              </a:ext>
            </a:extLst>
          </p:cNvPr>
          <p:cNvSpPr txBox="1">
            <a:spLocks/>
          </p:cNvSpPr>
          <p:nvPr/>
        </p:nvSpPr>
        <p:spPr>
          <a:xfrm>
            <a:off x="850086" y="4936141"/>
            <a:ext cx="10490631" cy="145950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800" b="1" noProof="0" dirty="0"/>
              <a:t>OMP Pack / Unpack Halo Buffer:</a:t>
            </a:r>
            <a:br>
              <a:rPr lang="en-GB" sz="1800" b="1" noProof="0" dirty="0"/>
            </a:br>
            <a:r>
              <a:rPr lang="en-GB" sz="1800" noProof="0" dirty="0"/>
              <a:t>The </a:t>
            </a:r>
            <a:r>
              <a:rPr lang="en-GB" sz="1600" noProof="0" dirty="0">
                <a:latin typeface="Courier New" panose="02070309020205020404" pitchFamily="49" charset="0"/>
                <a:cs typeface="Courier New" panose="02070309020205020404" pitchFamily="49" charset="0"/>
              </a:rPr>
              <a:t>#pragma </a:t>
            </a:r>
            <a:r>
              <a:rPr lang="en-GB" sz="1600" noProof="0" dirty="0" err="1">
                <a:latin typeface="Courier New" panose="02070309020205020404" pitchFamily="49" charset="0"/>
                <a:cs typeface="Courier New" panose="02070309020205020404" pitchFamily="49" charset="0"/>
              </a:rPr>
              <a:t>omp</a:t>
            </a:r>
            <a:r>
              <a:rPr lang="en-GB" sz="1600" noProof="0" dirty="0">
                <a:latin typeface="Courier New" panose="02070309020205020404" pitchFamily="49" charset="0"/>
                <a:cs typeface="Courier New" panose="02070309020205020404" pitchFamily="49" charset="0"/>
              </a:rPr>
              <a:t> parallel for schedule(static) </a:t>
            </a:r>
            <a:r>
              <a:rPr lang="en-GB" sz="1800" noProof="0" dirty="0"/>
              <a:t>directive parallelizes the loop that copies non-contiguous column data (East/West borders) into contiguous send buffers, distributing iterations evenly across OpenMP threads. </a:t>
            </a:r>
            <a:endParaRPr lang="en-GB" sz="1800" b="1" noProof="0" dirty="0"/>
          </a:p>
        </p:txBody>
      </p:sp>
      <p:sp>
        <p:nvSpPr>
          <p:cNvPr id="16" name="CasellaDiTesto 15">
            <a:extLst>
              <a:ext uri="{FF2B5EF4-FFF2-40B4-BE49-F238E27FC236}">
                <a16:creationId xmlns:a16="http://schemas.microsoft.com/office/drawing/2014/main" id="{C2D8D763-718F-384E-3176-E4824B1B53A9}"/>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7" name="CasellaDiTesto 16">
            <a:extLst>
              <a:ext uri="{FF2B5EF4-FFF2-40B4-BE49-F238E27FC236}">
                <a16:creationId xmlns:a16="http://schemas.microsoft.com/office/drawing/2014/main" id="{53D17A13-9D1C-BD9A-C1EA-181C573752D4}"/>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8" name="CasellaDiTesto 17">
            <a:extLst>
              <a:ext uri="{FF2B5EF4-FFF2-40B4-BE49-F238E27FC236}">
                <a16:creationId xmlns:a16="http://schemas.microsoft.com/office/drawing/2014/main" id="{705C9CEC-D00F-8F6C-DB24-65950A20F5BF}"/>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9" name="CasellaDiTesto 18">
            <a:extLst>
              <a:ext uri="{FF2B5EF4-FFF2-40B4-BE49-F238E27FC236}">
                <a16:creationId xmlns:a16="http://schemas.microsoft.com/office/drawing/2014/main" id="{C2B5E094-D697-1C1B-C622-FB6950AC6F75}"/>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13</a:t>
            </a:fld>
            <a:r>
              <a:rPr lang="en-GB" sz="1100" noProof="0" dirty="0"/>
              <a:t>/29</a:t>
            </a:r>
          </a:p>
        </p:txBody>
      </p:sp>
    </p:spTree>
    <p:extLst>
      <p:ext uri="{BB962C8B-B14F-4D97-AF65-F5344CB8AC3E}">
        <p14:creationId xmlns:p14="http://schemas.microsoft.com/office/powerpoint/2010/main" val="71047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D7C18-0C03-064E-A9E8-DC7A2D134344}"/>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B23C5546-8C20-55F0-6E49-119EA060FDF4}"/>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#pragma </a:t>
            </a:r>
            <a:r>
              <a:rPr lang="en-GB" sz="4000" b="1" noProof="0" dirty="0" err="1"/>
              <a:t>omp</a:t>
            </a:r>
            <a:r>
              <a:rPr lang="en-GB" sz="4000" b="1" noProof="0" dirty="0"/>
              <a:t> parallel for schedule(static) 1/5</a:t>
            </a:r>
          </a:p>
        </p:txBody>
      </p:sp>
      <p:sp>
        <p:nvSpPr>
          <p:cNvPr id="11" name="Sottotitolo 2">
            <a:extLst>
              <a:ext uri="{FF2B5EF4-FFF2-40B4-BE49-F238E27FC236}">
                <a16:creationId xmlns:a16="http://schemas.microsoft.com/office/drawing/2014/main" id="{89B635BB-83EA-99D4-B946-9670A6E9953F}"/>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15" name="Sottotitolo 2">
            <a:extLst>
              <a:ext uri="{FF2B5EF4-FFF2-40B4-BE49-F238E27FC236}">
                <a16:creationId xmlns:a16="http://schemas.microsoft.com/office/drawing/2014/main" id="{E36505E2-7FB0-9718-9B45-3C707124B4EF}"/>
              </a:ext>
            </a:extLst>
          </p:cNvPr>
          <p:cNvSpPr txBox="1">
            <a:spLocks/>
          </p:cNvSpPr>
          <p:nvPr/>
        </p:nvSpPr>
        <p:spPr>
          <a:xfrm>
            <a:off x="822034" y="1427491"/>
            <a:ext cx="10547928" cy="482285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1200"/>
              </a:spcAft>
            </a:pPr>
            <a:r>
              <a:rPr lang="en-GB" sz="1800" b="1" noProof="0" dirty="0">
                <a:solidFill>
                  <a:schemeClr val="accent5"/>
                </a:solidFill>
              </a:rPr>
              <a:t>#pragma </a:t>
            </a:r>
            <a:r>
              <a:rPr lang="en-GB" sz="1800" b="1" noProof="0" dirty="0" err="1">
                <a:solidFill>
                  <a:schemeClr val="accent4"/>
                </a:solidFill>
              </a:rPr>
              <a:t>omp</a:t>
            </a:r>
            <a:r>
              <a:rPr lang="en-GB" sz="1800" b="1" noProof="0" dirty="0">
                <a:solidFill>
                  <a:schemeClr val="accent4"/>
                </a:solidFill>
              </a:rPr>
              <a:t> parallel for schedule</a:t>
            </a:r>
            <a:r>
              <a:rPr lang="en-GB" sz="1800" b="1" noProof="0" dirty="0">
                <a:solidFill>
                  <a:schemeClr val="accent2"/>
                </a:solidFill>
              </a:rPr>
              <a:t>(</a:t>
            </a:r>
            <a:r>
              <a:rPr lang="en-GB" sz="1800" b="1" noProof="0" dirty="0">
                <a:solidFill>
                  <a:schemeClr val="accent4"/>
                </a:solidFill>
              </a:rPr>
              <a:t>static</a:t>
            </a:r>
            <a:r>
              <a:rPr lang="en-GB" sz="1800" b="1" noProof="0" dirty="0">
                <a:solidFill>
                  <a:schemeClr val="accent2"/>
                </a:solidFill>
              </a:rPr>
              <a:t>)</a:t>
            </a:r>
          </a:p>
          <a:p>
            <a:pPr marL="285750" indent="-285750" algn="l">
              <a:lnSpc>
                <a:spcPct val="120000"/>
              </a:lnSpc>
              <a:spcBef>
                <a:spcPts val="0"/>
              </a:spcBef>
              <a:spcAft>
                <a:spcPts val="600"/>
              </a:spcAft>
              <a:buFont typeface="Arial" panose="020B0604020202020204" pitchFamily="34" charset="0"/>
              <a:buChar char="•"/>
            </a:pPr>
            <a:r>
              <a:rPr lang="en-GB" sz="1800" noProof="0" dirty="0"/>
              <a:t>This directive is a combined construct that spawns a team of threads (</a:t>
            </a:r>
            <a:r>
              <a:rPr lang="en-GB" sz="1600" noProof="0" dirty="0">
                <a:latin typeface="Courier New" panose="02070309020205020404" pitchFamily="49" charset="0"/>
                <a:cs typeface="Courier New" panose="02070309020205020404" pitchFamily="49" charset="0"/>
              </a:rPr>
              <a:t>parallel</a:t>
            </a:r>
            <a:r>
              <a:rPr lang="en-GB" sz="1800" noProof="0" dirty="0"/>
              <a:t>) and immediately distributes the iterations of the following loop across those threads (</a:t>
            </a:r>
            <a:r>
              <a:rPr lang="en-GB" sz="1600" noProof="0" dirty="0">
                <a:latin typeface="Courier New" panose="02070309020205020404" pitchFamily="49" charset="0"/>
                <a:cs typeface="Courier New" panose="02070309020205020404" pitchFamily="49" charset="0"/>
              </a:rPr>
              <a:t>for</a:t>
            </a:r>
            <a:r>
              <a:rPr lang="en-GB" sz="1800" noProof="0" dirty="0"/>
              <a:t>). </a:t>
            </a:r>
          </a:p>
          <a:p>
            <a:pPr marL="285750" indent="-285750" algn="l">
              <a:lnSpc>
                <a:spcPct val="120000"/>
              </a:lnSpc>
              <a:spcBef>
                <a:spcPts val="0"/>
              </a:spcBef>
              <a:spcAft>
                <a:spcPts val="600"/>
              </a:spcAft>
              <a:buFont typeface="Arial" panose="020B0604020202020204" pitchFamily="34" charset="0"/>
              <a:buChar char="•"/>
            </a:pPr>
            <a:r>
              <a:rPr lang="en-GB" sz="1800" noProof="0" dirty="0"/>
              <a:t>The </a:t>
            </a:r>
            <a:r>
              <a:rPr lang="en-GB" sz="1600" noProof="0" dirty="0">
                <a:latin typeface="Courier New" panose="02070309020205020404" pitchFamily="49" charset="0"/>
                <a:cs typeface="Courier New" panose="02070309020205020404" pitchFamily="49" charset="0"/>
              </a:rPr>
              <a:t>schedule(static) </a:t>
            </a:r>
            <a:r>
              <a:rPr lang="en-GB" sz="1800" noProof="0" dirty="0"/>
              <a:t>clause dictates the partitioning strategy: the total number of loop iterations is divided into equal-sized chunks (by default, </a:t>
            </a:r>
            <a:r>
              <a:rPr lang="en-GB" sz="1600" noProof="0" dirty="0" err="1">
                <a:latin typeface="Courier New" panose="02070309020205020404" pitchFamily="49" charset="0"/>
                <a:cs typeface="Courier New" panose="02070309020205020404" pitchFamily="49" charset="0"/>
              </a:rPr>
              <a:t>total_iterations</a:t>
            </a:r>
            <a:r>
              <a:rPr lang="en-GB" sz="1600" noProof="0" dirty="0">
                <a:latin typeface="Courier New" panose="02070309020205020404" pitchFamily="49" charset="0"/>
                <a:cs typeface="Courier New" panose="02070309020205020404" pitchFamily="49" charset="0"/>
              </a:rPr>
              <a:t> / </a:t>
            </a:r>
            <a:r>
              <a:rPr lang="en-GB" sz="1600" noProof="0" dirty="0" err="1">
                <a:latin typeface="Courier New" panose="02070309020205020404" pitchFamily="49" charset="0"/>
                <a:cs typeface="Courier New" panose="02070309020205020404" pitchFamily="49" charset="0"/>
              </a:rPr>
              <a:t>num_threads</a:t>
            </a:r>
            <a:r>
              <a:rPr lang="en-GB" sz="1800" noProof="0" dirty="0"/>
              <a:t>) and assigned to threads in a </a:t>
            </a:r>
            <a:r>
              <a:rPr lang="en-GB" sz="1800" b="1" noProof="0" dirty="0"/>
              <a:t>round-robin</a:t>
            </a:r>
            <a:r>
              <a:rPr lang="en-GB" sz="1800" noProof="0" dirty="0"/>
              <a:t> fashion at the start of the parallel region.</a:t>
            </a:r>
          </a:p>
          <a:p>
            <a:pPr marL="285750" indent="-285750" algn="l">
              <a:lnSpc>
                <a:spcPct val="120000"/>
              </a:lnSpc>
              <a:spcBef>
                <a:spcPts val="0"/>
              </a:spcBef>
              <a:spcAft>
                <a:spcPts val="600"/>
              </a:spcAft>
              <a:buFont typeface="Arial" panose="020B0604020202020204" pitchFamily="34" charset="0"/>
              <a:buChar char="•"/>
            </a:pPr>
            <a:r>
              <a:rPr lang="en-GB" sz="1800" noProof="0" dirty="0"/>
              <a:t>Because the mapping is deterministic and fixed before execution begins, </a:t>
            </a:r>
            <a:r>
              <a:rPr lang="en-GB" sz="1800" noProof="0" dirty="0">
                <a:latin typeface="Courier New" panose="02070309020205020404" pitchFamily="49" charset="0"/>
                <a:cs typeface="Courier New" panose="02070309020205020404" pitchFamily="49" charset="0"/>
              </a:rPr>
              <a:t>static</a:t>
            </a:r>
            <a:r>
              <a:rPr lang="en-GB" sz="1800" noProof="0" dirty="0"/>
              <a:t> scheduling introduces </a:t>
            </a:r>
            <a:r>
              <a:rPr lang="en-GB" sz="1800" b="1" noProof="0" dirty="0"/>
              <a:t>near-zero runtime synchronization </a:t>
            </a:r>
            <a:r>
              <a:rPr lang="en-GB" sz="1800" noProof="0" dirty="0"/>
              <a:t>overhead compared to </a:t>
            </a:r>
            <a:r>
              <a:rPr lang="en-GB" sz="1800" noProof="0" dirty="0">
                <a:latin typeface="Courier New" panose="02070309020205020404" pitchFamily="49" charset="0"/>
                <a:cs typeface="Courier New" panose="02070309020205020404" pitchFamily="49" charset="0"/>
              </a:rPr>
              <a:t>dynamic</a:t>
            </a:r>
            <a:r>
              <a:rPr lang="en-GB" sz="1800" noProof="0" dirty="0"/>
              <a:t> or </a:t>
            </a:r>
            <a:r>
              <a:rPr lang="en-GB" sz="1800" noProof="0" dirty="0">
                <a:latin typeface="Courier New" panose="02070309020205020404" pitchFamily="49" charset="0"/>
                <a:cs typeface="Courier New" panose="02070309020205020404" pitchFamily="49" charset="0"/>
              </a:rPr>
              <a:t>guided</a:t>
            </a:r>
            <a:r>
              <a:rPr lang="en-GB" sz="1800" noProof="0" dirty="0"/>
              <a:t> schedules. This makes it the optimal choice for loops with uniform computational intensity per iteration and </a:t>
            </a:r>
            <a:r>
              <a:rPr lang="en-GB" sz="1800" b="1" noProof="0" dirty="0"/>
              <a:t>no load imbalance </a:t>
            </a:r>
            <a:r>
              <a:rPr lang="en-GB" sz="1800" noProof="0" dirty="0"/>
              <a:t>(e.g., copying a rectangular memory region). </a:t>
            </a:r>
          </a:p>
          <a:p>
            <a:pPr marL="285750" indent="-285750" algn="l">
              <a:lnSpc>
                <a:spcPct val="120000"/>
              </a:lnSpc>
              <a:spcBef>
                <a:spcPts val="0"/>
              </a:spcBef>
              <a:spcAft>
                <a:spcPts val="600"/>
              </a:spcAft>
              <a:buFont typeface="Arial" panose="020B0604020202020204" pitchFamily="34" charset="0"/>
              <a:buChar char="•"/>
            </a:pPr>
            <a:r>
              <a:rPr lang="en-GB" sz="1800" noProof="0" dirty="0"/>
              <a:t>Furthermore, when used consistently across multiple loops operating on the same data structures, it promotes </a:t>
            </a:r>
            <a:r>
              <a:rPr lang="en-GB" sz="1800" b="1" noProof="0" dirty="0"/>
              <a:t>NUMA locality</a:t>
            </a:r>
            <a:r>
              <a:rPr lang="en-GB" sz="1800" noProof="0" dirty="0"/>
              <a:t>: the same thread that initializes a memory page (via </a:t>
            </a:r>
            <a:r>
              <a:rPr lang="en-GB" sz="1800" b="1" i="1" noProof="0" dirty="0"/>
              <a:t>first-touch</a:t>
            </a:r>
            <a:r>
              <a:rPr lang="en-GB" sz="1800" noProof="0" dirty="0"/>
              <a:t>) is likely to process it in subsequent loops, ensuring data remains in the CPU's local cache or L1/L2 cache.</a:t>
            </a:r>
          </a:p>
        </p:txBody>
      </p:sp>
      <p:sp>
        <p:nvSpPr>
          <p:cNvPr id="2" name="CasellaDiTesto 1">
            <a:extLst>
              <a:ext uri="{FF2B5EF4-FFF2-40B4-BE49-F238E27FC236}">
                <a16:creationId xmlns:a16="http://schemas.microsoft.com/office/drawing/2014/main" id="{4D2F81F2-772D-7010-2467-08E0195841BC}"/>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3" name="CasellaDiTesto 2">
            <a:extLst>
              <a:ext uri="{FF2B5EF4-FFF2-40B4-BE49-F238E27FC236}">
                <a16:creationId xmlns:a16="http://schemas.microsoft.com/office/drawing/2014/main" id="{90D1E233-964B-B740-F208-A404C44C4755}"/>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4" name="CasellaDiTesto 3">
            <a:extLst>
              <a:ext uri="{FF2B5EF4-FFF2-40B4-BE49-F238E27FC236}">
                <a16:creationId xmlns:a16="http://schemas.microsoft.com/office/drawing/2014/main" id="{AB9A0CA2-AE61-9A8C-36B9-4A676DAB94F9}"/>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5" name="CasellaDiTesto 4">
            <a:extLst>
              <a:ext uri="{FF2B5EF4-FFF2-40B4-BE49-F238E27FC236}">
                <a16:creationId xmlns:a16="http://schemas.microsoft.com/office/drawing/2014/main" id="{2C709F9B-2BE5-9B57-D6CD-115032C04FFB}"/>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14</a:t>
            </a:fld>
            <a:r>
              <a:rPr lang="en-GB" sz="1100" noProof="0" dirty="0"/>
              <a:t>/29</a:t>
            </a:r>
          </a:p>
        </p:txBody>
      </p:sp>
    </p:spTree>
    <p:extLst>
      <p:ext uri="{BB962C8B-B14F-4D97-AF65-F5344CB8AC3E}">
        <p14:creationId xmlns:p14="http://schemas.microsoft.com/office/powerpoint/2010/main" val="180154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929F5-EE0A-D16B-ABA1-A97D60FA030F}"/>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D24B703A-616E-A07B-8821-A478CE54849B}"/>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#pragma </a:t>
            </a:r>
            <a:r>
              <a:rPr lang="en-GB" sz="4000" b="1" noProof="0" dirty="0" err="1"/>
              <a:t>omp</a:t>
            </a:r>
            <a:r>
              <a:rPr lang="en-GB" sz="4000" b="1" noProof="0" dirty="0"/>
              <a:t> parallel for schedule(static) 2/5</a:t>
            </a:r>
          </a:p>
        </p:txBody>
      </p:sp>
      <p:sp>
        <p:nvSpPr>
          <p:cNvPr id="11" name="Sottotitolo 2">
            <a:extLst>
              <a:ext uri="{FF2B5EF4-FFF2-40B4-BE49-F238E27FC236}">
                <a16:creationId xmlns:a16="http://schemas.microsoft.com/office/drawing/2014/main" id="{D8D3E8C5-2E9D-7813-4ED5-52E0044263DF}"/>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15" name="Sottotitolo 2">
            <a:extLst>
              <a:ext uri="{FF2B5EF4-FFF2-40B4-BE49-F238E27FC236}">
                <a16:creationId xmlns:a16="http://schemas.microsoft.com/office/drawing/2014/main" id="{67B47667-1544-1291-65E1-858846EBAB36}"/>
              </a:ext>
            </a:extLst>
          </p:cNvPr>
          <p:cNvSpPr txBox="1">
            <a:spLocks/>
          </p:cNvSpPr>
          <p:nvPr/>
        </p:nvSpPr>
        <p:spPr>
          <a:xfrm>
            <a:off x="822034" y="1513211"/>
            <a:ext cx="10547927" cy="482285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800" b="1" noProof="0" dirty="0">
                <a:solidFill>
                  <a:schemeClr val="accent5"/>
                </a:solidFill>
              </a:rPr>
              <a:t>#pragma </a:t>
            </a:r>
            <a:r>
              <a:rPr lang="en-GB" sz="1800" b="1" noProof="0" dirty="0" err="1">
                <a:solidFill>
                  <a:schemeClr val="accent4"/>
                </a:solidFill>
              </a:rPr>
              <a:t>omp</a:t>
            </a:r>
            <a:r>
              <a:rPr lang="en-GB" sz="1800" b="1" noProof="0" dirty="0">
                <a:solidFill>
                  <a:schemeClr val="accent4"/>
                </a:solidFill>
              </a:rPr>
              <a:t> parallel for schedule</a:t>
            </a:r>
            <a:r>
              <a:rPr lang="en-GB" sz="1800" b="1" noProof="0" dirty="0">
                <a:solidFill>
                  <a:schemeClr val="accent2"/>
                </a:solidFill>
              </a:rPr>
              <a:t>(</a:t>
            </a:r>
            <a:r>
              <a:rPr lang="en-GB" sz="1800" b="1" noProof="0" dirty="0">
                <a:solidFill>
                  <a:schemeClr val="accent4"/>
                </a:solidFill>
              </a:rPr>
              <a:t>static</a:t>
            </a:r>
            <a:r>
              <a:rPr lang="en-GB" sz="1800" b="1" noProof="0" dirty="0">
                <a:solidFill>
                  <a:schemeClr val="accent2"/>
                </a:solidFill>
              </a:rPr>
              <a:t>)</a:t>
            </a:r>
          </a:p>
          <a:p>
            <a:pPr algn="l">
              <a:lnSpc>
                <a:spcPct val="120000"/>
              </a:lnSpc>
              <a:spcBef>
                <a:spcPts val="0"/>
              </a:spcBef>
              <a:spcAft>
                <a:spcPts val="600"/>
              </a:spcAft>
            </a:pPr>
            <a:endParaRPr lang="en-GB" sz="1800" b="1" noProof="0" dirty="0">
              <a:solidFill>
                <a:schemeClr val="accent2"/>
              </a:solidFill>
            </a:endParaRPr>
          </a:p>
          <a:p>
            <a:pPr marL="252000" indent="-288000" algn="l">
              <a:lnSpc>
                <a:spcPct val="120000"/>
              </a:lnSpc>
              <a:spcBef>
                <a:spcPts val="0"/>
              </a:spcBef>
              <a:spcAft>
                <a:spcPts val="600"/>
              </a:spcAft>
              <a:buFont typeface="+mj-lt"/>
              <a:buAutoNum type="arabicPeriod"/>
            </a:pPr>
            <a:r>
              <a:rPr lang="en-GB" sz="1800" b="1" noProof="0" dirty="0"/>
              <a:t>Stencil Computation (Core Loops)</a:t>
            </a:r>
          </a:p>
          <a:p>
            <a:pPr marL="540000" lvl="2" indent="-180000" algn="l">
              <a:lnSpc>
                <a:spcPct val="120000"/>
              </a:lnSpc>
              <a:spcBef>
                <a:spcPts val="0"/>
              </a:spcBef>
              <a:spcAft>
                <a:spcPts val="600"/>
              </a:spcAft>
              <a:buFont typeface="Arial" panose="020B0604020202020204" pitchFamily="34" charset="0"/>
              <a:buChar char="•"/>
            </a:pPr>
            <a:r>
              <a:rPr lang="en-GB" sz="1600" noProof="0" dirty="0" err="1">
                <a:latin typeface="Courier New" panose="02070309020205020404" pitchFamily="49" charset="0"/>
                <a:cs typeface="Courier New" panose="02070309020205020404" pitchFamily="49" charset="0"/>
              </a:rPr>
              <a:t>update_interior</a:t>
            </a:r>
            <a:r>
              <a:rPr lang="en-GB" sz="1600" noProof="0" dirty="0">
                <a:latin typeface="Courier New" panose="02070309020205020404" pitchFamily="49" charset="0"/>
                <a:cs typeface="Courier New" panose="02070309020205020404" pitchFamily="49" charset="0"/>
              </a:rPr>
              <a:t>(): </a:t>
            </a:r>
            <a:r>
              <a:rPr lang="en-GB" noProof="0" dirty="0"/>
              <a:t>Parallelizes interior grid points computation (1 pragma)</a:t>
            </a:r>
          </a:p>
          <a:p>
            <a:pPr marL="720000" lvl="4" indent="-180000" algn="l">
              <a:lnSpc>
                <a:spcPct val="120000"/>
              </a:lnSpc>
              <a:spcBef>
                <a:spcPts val="0"/>
              </a:spcBef>
              <a:spcAft>
                <a:spcPts val="600"/>
              </a:spcAft>
              <a:buFont typeface="Arial" panose="020B0604020202020204" pitchFamily="34" charset="0"/>
              <a:buChar char="•"/>
            </a:pPr>
            <a:r>
              <a:rPr lang="en-GB" noProof="0" dirty="0"/>
              <a:t>Loop bounds: j ∈ [2, ysize-1], </a:t>
            </a:r>
            <a:r>
              <a:rPr lang="en-GB" noProof="0" dirty="0" err="1"/>
              <a:t>i</a:t>
            </a:r>
            <a:r>
              <a:rPr lang="en-GB" noProof="0" dirty="0"/>
              <a:t> ∈ [2, xsize-1] (excludes borders)</a:t>
            </a:r>
          </a:p>
          <a:p>
            <a:pPr marL="720000" lvl="4" indent="-180000" algn="l">
              <a:lnSpc>
                <a:spcPct val="120000"/>
              </a:lnSpc>
              <a:spcBef>
                <a:spcPts val="0"/>
              </a:spcBef>
              <a:spcAft>
                <a:spcPts val="600"/>
              </a:spcAft>
              <a:buFont typeface="Arial" panose="020B0604020202020204" pitchFamily="34" charset="0"/>
              <a:buChar char="•"/>
            </a:pPr>
            <a:r>
              <a:rPr lang="en-GB" noProof="0" dirty="0"/>
              <a:t>Executes during MPI communication overlap</a:t>
            </a:r>
          </a:p>
          <a:p>
            <a:pPr marL="540000" lvl="2" indent="-180000" algn="l">
              <a:lnSpc>
                <a:spcPct val="120000"/>
              </a:lnSpc>
              <a:spcBef>
                <a:spcPts val="0"/>
              </a:spcBef>
              <a:spcAft>
                <a:spcPts val="600"/>
              </a:spcAft>
              <a:buFont typeface="Arial" panose="020B0604020202020204" pitchFamily="34" charset="0"/>
              <a:buChar char="•"/>
            </a:pPr>
            <a:r>
              <a:rPr lang="en-GB" sz="1600" noProof="0" dirty="0" err="1">
                <a:latin typeface="Courier New" panose="02070309020205020404" pitchFamily="49" charset="0"/>
                <a:cs typeface="Courier New" panose="02070309020205020404" pitchFamily="49" charset="0"/>
              </a:rPr>
              <a:t>update_borders</a:t>
            </a:r>
            <a:r>
              <a:rPr lang="en-GB" sz="1600" noProof="0" dirty="0">
                <a:latin typeface="Courier New" panose="02070309020205020404" pitchFamily="49" charset="0"/>
                <a:cs typeface="Courier New" panose="02070309020205020404" pitchFamily="49" charset="0"/>
              </a:rPr>
              <a:t>(): </a:t>
            </a:r>
            <a:r>
              <a:rPr lang="en-GB" noProof="0" dirty="0"/>
              <a:t>Parallelizes border points computation (2 pragmas)</a:t>
            </a:r>
          </a:p>
          <a:p>
            <a:pPr marL="720000" lvl="3" indent="-180000" algn="l">
              <a:lnSpc>
                <a:spcPct val="120000"/>
              </a:lnSpc>
              <a:spcBef>
                <a:spcPts val="0"/>
              </a:spcBef>
              <a:spcAft>
                <a:spcPts val="600"/>
              </a:spcAft>
              <a:buFont typeface="Arial" panose="020B0604020202020204" pitchFamily="34" charset="0"/>
              <a:buChar char="•"/>
            </a:pPr>
            <a:r>
              <a:rPr lang="en-GB" noProof="0" dirty="0"/>
              <a:t>Horizontal borders (top/bottom): separate loop</a:t>
            </a:r>
          </a:p>
          <a:p>
            <a:pPr marL="720000" lvl="3" indent="-180000" algn="l">
              <a:lnSpc>
                <a:spcPct val="120000"/>
              </a:lnSpc>
              <a:spcBef>
                <a:spcPts val="0"/>
              </a:spcBef>
              <a:spcAft>
                <a:spcPts val="600"/>
              </a:spcAft>
              <a:buFont typeface="Arial" panose="020B0604020202020204" pitchFamily="34" charset="0"/>
              <a:buChar char="•"/>
            </a:pPr>
            <a:r>
              <a:rPr lang="en-GB" noProof="0" dirty="0"/>
              <a:t>Vertical borders (left/right): separate loop</a:t>
            </a:r>
          </a:p>
          <a:p>
            <a:pPr marL="540000" lvl="2" indent="-180000" algn="l">
              <a:lnSpc>
                <a:spcPct val="120000"/>
              </a:lnSpc>
              <a:spcBef>
                <a:spcPts val="0"/>
              </a:spcBef>
              <a:spcAft>
                <a:spcPts val="600"/>
              </a:spcAft>
              <a:buFont typeface="Arial" panose="020B0604020202020204" pitchFamily="34" charset="0"/>
              <a:buChar char="•"/>
            </a:pPr>
            <a:r>
              <a:rPr lang="en-GB" noProof="0" dirty="0"/>
              <a:t>Requires halo data from neighbours</a:t>
            </a:r>
          </a:p>
        </p:txBody>
      </p:sp>
      <p:sp>
        <p:nvSpPr>
          <p:cNvPr id="2" name="CasellaDiTesto 1">
            <a:extLst>
              <a:ext uri="{FF2B5EF4-FFF2-40B4-BE49-F238E27FC236}">
                <a16:creationId xmlns:a16="http://schemas.microsoft.com/office/drawing/2014/main" id="{B69D6206-8283-6152-27AD-406A7D4DD381}"/>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3" name="CasellaDiTesto 2">
            <a:extLst>
              <a:ext uri="{FF2B5EF4-FFF2-40B4-BE49-F238E27FC236}">
                <a16:creationId xmlns:a16="http://schemas.microsoft.com/office/drawing/2014/main" id="{D58A64FE-3548-D669-5B82-70D1F7BB71DE}"/>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4" name="CasellaDiTesto 3">
            <a:extLst>
              <a:ext uri="{FF2B5EF4-FFF2-40B4-BE49-F238E27FC236}">
                <a16:creationId xmlns:a16="http://schemas.microsoft.com/office/drawing/2014/main" id="{CEE0FBA9-51EB-657C-04EF-FDF67FC58DD2}"/>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5" name="CasellaDiTesto 4">
            <a:extLst>
              <a:ext uri="{FF2B5EF4-FFF2-40B4-BE49-F238E27FC236}">
                <a16:creationId xmlns:a16="http://schemas.microsoft.com/office/drawing/2014/main" id="{002711C5-EF78-AF4C-FA77-E7C60C0D1C68}"/>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15</a:t>
            </a:fld>
            <a:r>
              <a:rPr lang="en-GB" sz="1100" noProof="0" dirty="0"/>
              <a:t>/29</a:t>
            </a:r>
          </a:p>
        </p:txBody>
      </p:sp>
    </p:spTree>
    <p:extLst>
      <p:ext uri="{BB962C8B-B14F-4D97-AF65-F5344CB8AC3E}">
        <p14:creationId xmlns:p14="http://schemas.microsoft.com/office/powerpoint/2010/main" val="2408517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B5467-2378-AEA2-6F63-7FD358DE7B15}"/>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C0F706A4-ACA0-EA74-EF1D-05C2F5CF54F4}"/>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#pragma </a:t>
            </a:r>
            <a:r>
              <a:rPr lang="en-GB" sz="4000" b="1" noProof="0" dirty="0" err="1"/>
              <a:t>omp</a:t>
            </a:r>
            <a:r>
              <a:rPr lang="en-GB" sz="4000" b="1" noProof="0" dirty="0"/>
              <a:t> parallel for schedule(static) 3/5</a:t>
            </a:r>
          </a:p>
        </p:txBody>
      </p:sp>
      <p:sp>
        <p:nvSpPr>
          <p:cNvPr id="11" name="Sottotitolo 2">
            <a:extLst>
              <a:ext uri="{FF2B5EF4-FFF2-40B4-BE49-F238E27FC236}">
                <a16:creationId xmlns:a16="http://schemas.microsoft.com/office/drawing/2014/main" id="{48552FFD-B9A6-76EB-D0EA-61131E2FA6EF}"/>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15" name="Sottotitolo 2">
            <a:extLst>
              <a:ext uri="{FF2B5EF4-FFF2-40B4-BE49-F238E27FC236}">
                <a16:creationId xmlns:a16="http://schemas.microsoft.com/office/drawing/2014/main" id="{E5B11FA1-1727-F426-30A8-0CD27D484EBF}"/>
              </a:ext>
            </a:extLst>
          </p:cNvPr>
          <p:cNvSpPr txBox="1">
            <a:spLocks/>
          </p:cNvSpPr>
          <p:nvPr/>
        </p:nvSpPr>
        <p:spPr>
          <a:xfrm>
            <a:off x="822034" y="1513211"/>
            <a:ext cx="10547927" cy="482285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800" b="1" noProof="0" dirty="0">
                <a:solidFill>
                  <a:schemeClr val="accent5"/>
                </a:solidFill>
              </a:rPr>
              <a:t>#pragma </a:t>
            </a:r>
            <a:r>
              <a:rPr lang="en-GB" sz="1800" b="1" noProof="0" dirty="0" err="1">
                <a:solidFill>
                  <a:schemeClr val="accent4"/>
                </a:solidFill>
              </a:rPr>
              <a:t>omp</a:t>
            </a:r>
            <a:r>
              <a:rPr lang="en-GB" sz="1800" b="1" noProof="0" dirty="0">
                <a:solidFill>
                  <a:schemeClr val="accent4"/>
                </a:solidFill>
              </a:rPr>
              <a:t> parallel for schedule</a:t>
            </a:r>
            <a:r>
              <a:rPr lang="en-GB" sz="1800" b="1" noProof="0" dirty="0">
                <a:solidFill>
                  <a:schemeClr val="accent2"/>
                </a:solidFill>
              </a:rPr>
              <a:t>(</a:t>
            </a:r>
            <a:r>
              <a:rPr lang="en-GB" sz="1800" b="1" noProof="0" dirty="0">
                <a:solidFill>
                  <a:schemeClr val="accent4"/>
                </a:solidFill>
              </a:rPr>
              <a:t>static</a:t>
            </a:r>
            <a:r>
              <a:rPr lang="en-GB" sz="1800" b="1" noProof="0" dirty="0">
                <a:solidFill>
                  <a:schemeClr val="accent2"/>
                </a:solidFill>
              </a:rPr>
              <a:t>)</a:t>
            </a:r>
          </a:p>
          <a:p>
            <a:pPr algn="l">
              <a:lnSpc>
                <a:spcPct val="120000"/>
              </a:lnSpc>
              <a:spcBef>
                <a:spcPts val="0"/>
              </a:spcBef>
              <a:spcAft>
                <a:spcPts val="600"/>
              </a:spcAft>
            </a:pPr>
            <a:endParaRPr lang="en-GB" sz="1800" b="1" noProof="0" dirty="0">
              <a:solidFill>
                <a:schemeClr val="accent2"/>
              </a:solidFill>
            </a:endParaRPr>
          </a:p>
          <a:p>
            <a:pPr marL="306900" indent="-342900" algn="l">
              <a:lnSpc>
                <a:spcPct val="120000"/>
              </a:lnSpc>
              <a:spcBef>
                <a:spcPts val="0"/>
              </a:spcBef>
              <a:spcAft>
                <a:spcPts val="600"/>
              </a:spcAft>
              <a:buFont typeface="+mj-lt"/>
              <a:buAutoNum type="arabicPeriod" startAt="2"/>
            </a:pPr>
            <a:r>
              <a:rPr lang="en-GB" sz="1800" b="1" noProof="0" dirty="0"/>
              <a:t>Halo Exchange Operations</a:t>
            </a:r>
          </a:p>
          <a:p>
            <a:pPr marL="540000" lvl="2" indent="-180000" algn="l">
              <a:lnSpc>
                <a:spcPct val="120000"/>
              </a:lnSpc>
              <a:spcBef>
                <a:spcPts val="0"/>
              </a:spcBef>
              <a:spcAft>
                <a:spcPts val="600"/>
              </a:spcAft>
              <a:buFont typeface="Arial" panose="020B0604020202020204" pitchFamily="34" charset="0"/>
              <a:buChar char="•"/>
            </a:pPr>
            <a:r>
              <a:rPr lang="en-US" sz="1600" noProof="0" dirty="0"/>
              <a:t>Pack East/West buffers: Parallel copying of non-contiguous column data into send buffers (2 pragmas)</a:t>
            </a:r>
          </a:p>
          <a:p>
            <a:pPr marL="540000" lvl="2" indent="-180000" algn="l">
              <a:lnSpc>
                <a:spcPct val="120000"/>
              </a:lnSpc>
              <a:spcBef>
                <a:spcPts val="0"/>
              </a:spcBef>
              <a:spcAft>
                <a:spcPts val="600"/>
              </a:spcAft>
              <a:buFont typeface="Arial" panose="020B0604020202020204" pitchFamily="34" charset="0"/>
              <a:buChar char="•"/>
            </a:pPr>
            <a:r>
              <a:rPr lang="en-US" sz="1600" noProof="0" dirty="0"/>
              <a:t>Self-communication: When neighbor == own rank, parallel copy replaces MPI calls (4 pragmas for all directions)</a:t>
            </a:r>
          </a:p>
          <a:p>
            <a:pPr marL="540000" lvl="2" indent="-180000" algn="l">
              <a:lnSpc>
                <a:spcPct val="120000"/>
              </a:lnSpc>
              <a:spcBef>
                <a:spcPts val="0"/>
              </a:spcBef>
              <a:spcAft>
                <a:spcPts val="600"/>
              </a:spcAft>
              <a:buFont typeface="Arial" panose="020B0604020202020204" pitchFamily="34" charset="0"/>
              <a:buChar char="•"/>
            </a:pPr>
            <a:r>
              <a:rPr lang="en-US" sz="1600" noProof="0" dirty="0"/>
              <a:t>Unpack East/West buffers: Parallel copying of received data into ghost cells (2 pragmas)</a:t>
            </a:r>
          </a:p>
        </p:txBody>
      </p:sp>
      <p:sp>
        <p:nvSpPr>
          <p:cNvPr id="2" name="CasellaDiTesto 1">
            <a:extLst>
              <a:ext uri="{FF2B5EF4-FFF2-40B4-BE49-F238E27FC236}">
                <a16:creationId xmlns:a16="http://schemas.microsoft.com/office/drawing/2014/main" id="{48B0A7A0-32BE-EEB9-9959-B763931B0A6C}"/>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3" name="CasellaDiTesto 2">
            <a:extLst>
              <a:ext uri="{FF2B5EF4-FFF2-40B4-BE49-F238E27FC236}">
                <a16:creationId xmlns:a16="http://schemas.microsoft.com/office/drawing/2014/main" id="{EBFD1EAF-44D5-8A03-935D-6E3AB3A6CA51}"/>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4" name="CasellaDiTesto 3">
            <a:extLst>
              <a:ext uri="{FF2B5EF4-FFF2-40B4-BE49-F238E27FC236}">
                <a16:creationId xmlns:a16="http://schemas.microsoft.com/office/drawing/2014/main" id="{18F16599-FB1A-2EB6-881F-D0EB9F10DC69}"/>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5" name="CasellaDiTesto 4">
            <a:extLst>
              <a:ext uri="{FF2B5EF4-FFF2-40B4-BE49-F238E27FC236}">
                <a16:creationId xmlns:a16="http://schemas.microsoft.com/office/drawing/2014/main" id="{CF80A5DB-33BD-7D22-F8A2-E76D48CE0365}"/>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16</a:t>
            </a:fld>
            <a:r>
              <a:rPr lang="en-GB" sz="1100" noProof="0" dirty="0"/>
              <a:t>/29</a:t>
            </a:r>
          </a:p>
        </p:txBody>
      </p:sp>
    </p:spTree>
    <p:extLst>
      <p:ext uri="{BB962C8B-B14F-4D97-AF65-F5344CB8AC3E}">
        <p14:creationId xmlns:p14="http://schemas.microsoft.com/office/powerpoint/2010/main" val="1300725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1C67E-6E84-4BBC-D677-5CFD2AC2FAAA}"/>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03B3E13D-4DF4-AD6D-4CAF-2606310AE4DC}"/>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#pragma </a:t>
            </a:r>
            <a:r>
              <a:rPr lang="en-GB" sz="4000" b="1" noProof="0" dirty="0" err="1"/>
              <a:t>omp</a:t>
            </a:r>
            <a:r>
              <a:rPr lang="en-GB" sz="4000" b="1" noProof="0" dirty="0"/>
              <a:t> parallel for schedule(static) 4/5</a:t>
            </a:r>
          </a:p>
        </p:txBody>
      </p:sp>
      <p:sp>
        <p:nvSpPr>
          <p:cNvPr id="11" name="Sottotitolo 2">
            <a:extLst>
              <a:ext uri="{FF2B5EF4-FFF2-40B4-BE49-F238E27FC236}">
                <a16:creationId xmlns:a16="http://schemas.microsoft.com/office/drawing/2014/main" id="{106436E8-614D-BD62-130B-71F5DD7C32CD}"/>
              </a:ext>
            </a:extLst>
          </p:cNvPr>
          <p:cNvSpPr txBox="1">
            <a:spLocks/>
          </p:cNvSpPr>
          <p:nvPr/>
        </p:nvSpPr>
        <p:spPr>
          <a:xfrm>
            <a:off x="974434" y="2900755"/>
            <a:ext cx="10547928" cy="3501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0"/>
              </a:spcBef>
              <a:spcAft>
                <a:spcPts val="600"/>
              </a:spcAft>
              <a:buFont typeface="Arial" panose="020B0604020202020204" pitchFamily="34" charset="0"/>
              <a:buChar char="•"/>
            </a:pPr>
            <a:endParaRPr lang="en-GB" sz="2000" noProof="0" dirty="0"/>
          </a:p>
        </p:txBody>
      </p:sp>
      <p:sp>
        <p:nvSpPr>
          <p:cNvPr id="15" name="Sottotitolo 2">
            <a:extLst>
              <a:ext uri="{FF2B5EF4-FFF2-40B4-BE49-F238E27FC236}">
                <a16:creationId xmlns:a16="http://schemas.microsoft.com/office/drawing/2014/main" id="{82F86264-B5BA-9DBA-0445-014AEB2A2777}"/>
              </a:ext>
            </a:extLst>
          </p:cNvPr>
          <p:cNvSpPr txBox="1">
            <a:spLocks/>
          </p:cNvSpPr>
          <p:nvPr/>
        </p:nvSpPr>
        <p:spPr>
          <a:xfrm>
            <a:off x="822034" y="1513211"/>
            <a:ext cx="10547927" cy="235111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1200"/>
              </a:spcAft>
            </a:pPr>
            <a:r>
              <a:rPr lang="en-GB" sz="1800" b="1" noProof="0" dirty="0">
                <a:solidFill>
                  <a:schemeClr val="accent5"/>
                </a:solidFill>
              </a:rPr>
              <a:t>#pragma </a:t>
            </a:r>
            <a:r>
              <a:rPr lang="en-GB" sz="1800" b="1" noProof="0" dirty="0" err="1">
                <a:solidFill>
                  <a:schemeClr val="accent4"/>
                </a:solidFill>
              </a:rPr>
              <a:t>omp</a:t>
            </a:r>
            <a:r>
              <a:rPr lang="en-GB" sz="1800" b="1" noProof="0" dirty="0">
                <a:solidFill>
                  <a:schemeClr val="accent4"/>
                </a:solidFill>
              </a:rPr>
              <a:t> parallel for schedule</a:t>
            </a:r>
            <a:r>
              <a:rPr lang="en-GB" sz="1800" b="1" noProof="0" dirty="0">
                <a:solidFill>
                  <a:schemeClr val="accent2"/>
                </a:solidFill>
              </a:rPr>
              <a:t>(</a:t>
            </a:r>
            <a:r>
              <a:rPr lang="en-GB" sz="1800" b="1" noProof="0" dirty="0">
                <a:solidFill>
                  <a:schemeClr val="accent4"/>
                </a:solidFill>
              </a:rPr>
              <a:t>static</a:t>
            </a:r>
            <a:r>
              <a:rPr lang="en-GB" sz="1800" b="1" noProof="0" dirty="0">
                <a:solidFill>
                  <a:schemeClr val="accent2"/>
                </a:solidFill>
              </a:rPr>
              <a:t>)</a:t>
            </a:r>
          </a:p>
          <a:p>
            <a:pPr marL="306900" indent="-342900" algn="l">
              <a:lnSpc>
                <a:spcPct val="120000"/>
              </a:lnSpc>
              <a:spcBef>
                <a:spcPts val="0"/>
              </a:spcBef>
              <a:spcAft>
                <a:spcPts val="600"/>
              </a:spcAft>
              <a:buFont typeface="+mj-lt"/>
              <a:buAutoNum type="arabicPeriod" startAt="3"/>
            </a:pPr>
            <a:r>
              <a:rPr lang="en-GB" sz="1800" b="1" noProof="0" dirty="0"/>
              <a:t>Memory Management</a:t>
            </a:r>
          </a:p>
          <a:p>
            <a:pPr marL="540000" lvl="2" indent="-180000" algn="l">
              <a:lnSpc>
                <a:spcPct val="120000"/>
              </a:lnSpc>
              <a:spcBef>
                <a:spcPts val="0"/>
              </a:spcBef>
              <a:spcAft>
                <a:spcPts val="600"/>
              </a:spcAft>
              <a:buFont typeface="Arial" panose="020B0604020202020204" pitchFamily="34" charset="0"/>
              <a:buChar char="•"/>
            </a:pPr>
            <a:r>
              <a:rPr lang="en-US" sz="1600" noProof="0" dirty="0"/>
              <a:t>First-touch NUMA allocation: Parallel initialization of grid memory for NUMA-aware placement (2 pragmas for OLD and NEW planes)</a:t>
            </a:r>
          </a:p>
          <a:p>
            <a:pPr marL="540000" lvl="2" indent="-180000" algn="l">
              <a:lnSpc>
                <a:spcPct val="120000"/>
              </a:lnSpc>
              <a:spcBef>
                <a:spcPts val="0"/>
              </a:spcBef>
              <a:spcAft>
                <a:spcPts val="600"/>
              </a:spcAft>
              <a:buFont typeface="Arial" panose="020B0604020202020204" pitchFamily="34" charset="0"/>
              <a:buChar char="•"/>
            </a:pPr>
            <a:r>
              <a:rPr lang="en-US" sz="1600" noProof="0" dirty="0"/>
              <a:t>Ensures memory pages allocated on local NUMA nodes</a:t>
            </a:r>
          </a:p>
        </p:txBody>
      </p:sp>
      <p:pic>
        <p:nvPicPr>
          <p:cNvPr id="4" name="Immagine 3" descr="Immagine che contiene testo, schermata, Carattere&#10;&#10;Il contenuto generato dall'IA potrebbe non essere corretto.">
            <a:extLst>
              <a:ext uri="{FF2B5EF4-FFF2-40B4-BE49-F238E27FC236}">
                <a16:creationId xmlns:a16="http://schemas.microsoft.com/office/drawing/2014/main" id="{A8099176-56CA-1E97-03B7-EBB38F2D2AC8}"/>
              </a:ext>
            </a:extLst>
          </p:cNvPr>
          <p:cNvPicPr>
            <a:picLocks noChangeAspect="1"/>
          </p:cNvPicPr>
          <p:nvPr/>
        </p:nvPicPr>
        <p:blipFill>
          <a:blip r:embed="rId2"/>
          <a:stretch>
            <a:fillRect/>
          </a:stretch>
        </p:blipFill>
        <p:spPr>
          <a:xfrm>
            <a:off x="1542209" y="3897693"/>
            <a:ext cx="5639542" cy="2367215"/>
          </a:xfrm>
          <a:prstGeom prst="rect">
            <a:avLst/>
          </a:prstGeom>
        </p:spPr>
      </p:pic>
      <p:pic>
        <p:nvPicPr>
          <p:cNvPr id="16" name="Immagine 15" descr="Immagine che contiene testo, schermata, Carattere&#10;&#10;Il contenuto generato dall'IA potrebbe non essere corretto.">
            <a:extLst>
              <a:ext uri="{FF2B5EF4-FFF2-40B4-BE49-F238E27FC236}">
                <a16:creationId xmlns:a16="http://schemas.microsoft.com/office/drawing/2014/main" id="{8BD80F3D-32D8-35FB-9B0E-FF8A1177CF0D}"/>
              </a:ext>
            </a:extLst>
          </p:cNvPr>
          <p:cNvPicPr>
            <a:picLocks noChangeAspect="1"/>
          </p:cNvPicPr>
          <p:nvPr/>
        </p:nvPicPr>
        <p:blipFill>
          <a:blip r:embed="rId3"/>
          <a:stretch>
            <a:fillRect/>
          </a:stretch>
        </p:blipFill>
        <p:spPr>
          <a:xfrm>
            <a:off x="6685368" y="3896108"/>
            <a:ext cx="3982632" cy="2368800"/>
          </a:xfrm>
          <a:prstGeom prst="rect">
            <a:avLst/>
          </a:prstGeom>
        </p:spPr>
      </p:pic>
      <p:sp>
        <p:nvSpPr>
          <p:cNvPr id="19" name="CasellaDiTesto 18">
            <a:extLst>
              <a:ext uri="{FF2B5EF4-FFF2-40B4-BE49-F238E27FC236}">
                <a16:creationId xmlns:a16="http://schemas.microsoft.com/office/drawing/2014/main" id="{5D3B127D-4C32-A6DE-2DD8-E7254408D7B6}"/>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20" name="CasellaDiTesto 19">
            <a:extLst>
              <a:ext uri="{FF2B5EF4-FFF2-40B4-BE49-F238E27FC236}">
                <a16:creationId xmlns:a16="http://schemas.microsoft.com/office/drawing/2014/main" id="{02CC56B4-E7F7-E4DF-EAAB-7904F904E0CC}"/>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21" name="CasellaDiTesto 20">
            <a:extLst>
              <a:ext uri="{FF2B5EF4-FFF2-40B4-BE49-F238E27FC236}">
                <a16:creationId xmlns:a16="http://schemas.microsoft.com/office/drawing/2014/main" id="{E72E9717-0417-AF01-2F12-E5C25C04A67B}"/>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22" name="CasellaDiTesto 21">
            <a:extLst>
              <a:ext uri="{FF2B5EF4-FFF2-40B4-BE49-F238E27FC236}">
                <a16:creationId xmlns:a16="http://schemas.microsoft.com/office/drawing/2014/main" id="{24492A69-DE82-2EBB-DF18-4CD2F5FBF190}"/>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17</a:t>
            </a:fld>
            <a:r>
              <a:rPr lang="en-GB" sz="1100" noProof="0" dirty="0"/>
              <a:t>/29</a:t>
            </a:r>
          </a:p>
        </p:txBody>
      </p:sp>
    </p:spTree>
    <p:extLst>
      <p:ext uri="{BB962C8B-B14F-4D97-AF65-F5344CB8AC3E}">
        <p14:creationId xmlns:p14="http://schemas.microsoft.com/office/powerpoint/2010/main" val="400253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F6B59-5374-9D86-3B7F-2E8DE0193173}"/>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0D860C48-FB14-EA62-D129-34B8A7C67581}"/>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#pragma </a:t>
            </a:r>
            <a:r>
              <a:rPr lang="en-GB" sz="4000" b="1" noProof="0" dirty="0" err="1"/>
              <a:t>omp</a:t>
            </a:r>
            <a:r>
              <a:rPr lang="en-GB" sz="4000" b="1" noProof="0" dirty="0"/>
              <a:t> parallel for schedule(static) 5/5</a:t>
            </a:r>
          </a:p>
        </p:txBody>
      </p:sp>
      <p:sp>
        <p:nvSpPr>
          <p:cNvPr id="15" name="Sottotitolo 2">
            <a:extLst>
              <a:ext uri="{FF2B5EF4-FFF2-40B4-BE49-F238E27FC236}">
                <a16:creationId xmlns:a16="http://schemas.microsoft.com/office/drawing/2014/main" id="{79014C6D-D317-F1E1-45DE-165E08E5F53C}"/>
              </a:ext>
            </a:extLst>
          </p:cNvPr>
          <p:cNvSpPr txBox="1">
            <a:spLocks/>
          </p:cNvSpPr>
          <p:nvPr/>
        </p:nvSpPr>
        <p:spPr>
          <a:xfrm>
            <a:off x="822034" y="1513211"/>
            <a:ext cx="10547927" cy="242056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800" b="1" noProof="0" dirty="0">
                <a:solidFill>
                  <a:schemeClr val="accent5"/>
                </a:solidFill>
              </a:rPr>
              <a:t>#pragma </a:t>
            </a:r>
            <a:r>
              <a:rPr lang="en-GB" sz="1800" b="1" noProof="0" dirty="0" err="1">
                <a:solidFill>
                  <a:schemeClr val="accent4"/>
                </a:solidFill>
              </a:rPr>
              <a:t>omp</a:t>
            </a:r>
            <a:r>
              <a:rPr lang="en-GB" sz="1800" b="1" noProof="0" dirty="0">
                <a:solidFill>
                  <a:schemeClr val="accent4"/>
                </a:solidFill>
              </a:rPr>
              <a:t> parallel for schedule</a:t>
            </a:r>
            <a:r>
              <a:rPr lang="en-GB" sz="1800" b="1" noProof="0" dirty="0">
                <a:solidFill>
                  <a:schemeClr val="accent2"/>
                </a:solidFill>
              </a:rPr>
              <a:t>(</a:t>
            </a:r>
            <a:r>
              <a:rPr lang="en-GB" sz="1800" b="1" noProof="0" dirty="0">
                <a:solidFill>
                  <a:schemeClr val="accent4"/>
                </a:solidFill>
              </a:rPr>
              <a:t>static</a:t>
            </a:r>
            <a:r>
              <a:rPr lang="en-GB" sz="1800" b="1" noProof="0" dirty="0">
                <a:solidFill>
                  <a:schemeClr val="accent2"/>
                </a:solidFill>
              </a:rPr>
              <a:t>)</a:t>
            </a:r>
          </a:p>
          <a:p>
            <a:pPr algn="l">
              <a:lnSpc>
                <a:spcPct val="120000"/>
              </a:lnSpc>
              <a:spcBef>
                <a:spcPts val="0"/>
              </a:spcBef>
              <a:spcAft>
                <a:spcPts val="600"/>
              </a:spcAft>
            </a:pPr>
            <a:endParaRPr lang="en-GB" sz="1800" b="1" noProof="0" dirty="0">
              <a:solidFill>
                <a:schemeClr val="accent2"/>
              </a:solidFill>
            </a:endParaRPr>
          </a:p>
          <a:p>
            <a:pPr marL="306900" indent="-342900" algn="l">
              <a:lnSpc>
                <a:spcPct val="120000"/>
              </a:lnSpc>
              <a:spcBef>
                <a:spcPts val="0"/>
              </a:spcBef>
              <a:spcAft>
                <a:spcPts val="600"/>
              </a:spcAft>
              <a:buFont typeface="+mj-lt"/>
              <a:buAutoNum type="arabicPeriod" startAt="4"/>
            </a:pPr>
            <a:r>
              <a:rPr lang="en-GB" sz="1800" b="1" noProof="0" dirty="0"/>
              <a:t>Reduction Operations</a:t>
            </a:r>
          </a:p>
          <a:p>
            <a:pPr marL="540000" lvl="2" indent="-180000" algn="l">
              <a:lnSpc>
                <a:spcPct val="120000"/>
              </a:lnSpc>
              <a:spcBef>
                <a:spcPts val="0"/>
              </a:spcBef>
              <a:spcAft>
                <a:spcPts val="600"/>
              </a:spcAft>
              <a:buFont typeface="Arial" panose="020B0604020202020204" pitchFamily="34" charset="0"/>
              <a:buChar char="•"/>
            </a:pPr>
            <a:r>
              <a:rPr lang="en-US" sz="1400" noProof="0" dirty="0" err="1">
                <a:latin typeface="Courier New" panose="02070309020205020404" pitchFamily="49" charset="0"/>
                <a:cs typeface="Courier New" panose="02070309020205020404" pitchFamily="49" charset="0"/>
              </a:rPr>
              <a:t>get_total_energy</a:t>
            </a:r>
            <a:r>
              <a:rPr lang="en-US" sz="1400" noProof="0" dirty="0">
                <a:latin typeface="Courier New" panose="02070309020205020404" pitchFamily="49" charset="0"/>
                <a:cs typeface="Courier New" panose="02070309020205020404" pitchFamily="49" charset="0"/>
              </a:rPr>
              <a:t>(): </a:t>
            </a:r>
            <a:r>
              <a:rPr lang="en-US" sz="1600" noProof="0" dirty="0"/>
              <a:t>Parallel sum using reduction(+:</a:t>
            </a:r>
            <a:r>
              <a:rPr lang="en-US" sz="1600" noProof="0" dirty="0" err="1"/>
              <a:t>totenergy</a:t>
            </a:r>
            <a:r>
              <a:rPr lang="en-US" sz="1600" noProof="0" dirty="0"/>
              <a:t>) (1 pragma)</a:t>
            </a:r>
          </a:p>
          <a:p>
            <a:pPr marL="540000" lvl="2" indent="-180000" algn="l">
              <a:lnSpc>
                <a:spcPct val="120000"/>
              </a:lnSpc>
              <a:spcBef>
                <a:spcPts val="0"/>
              </a:spcBef>
              <a:spcAft>
                <a:spcPts val="600"/>
              </a:spcAft>
              <a:buFont typeface="Arial" panose="020B0604020202020204" pitchFamily="34" charset="0"/>
              <a:buChar char="•"/>
            </a:pPr>
            <a:r>
              <a:rPr lang="en-US" sz="1600" noProof="0" dirty="0"/>
              <a:t>Thread-safe global energy calculation across all grid points</a:t>
            </a:r>
          </a:p>
        </p:txBody>
      </p:sp>
      <p:pic>
        <p:nvPicPr>
          <p:cNvPr id="12" name="Immagine 11" descr="Immagine che contiene testo, schermata, Carattere&#10;&#10;Il contenuto generato dall'IA potrebbe non essere corretto.">
            <a:extLst>
              <a:ext uri="{FF2B5EF4-FFF2-40B4-BE49-F238E27FC236}">
                <a16:creationId xmlns:a16="http://schemas.microsoft.com/office/drawing/2014/main" id="{4BFF4ED1-FCF7-91E4-26AE-B5DE13805A67}"/>
              </a:ext>
            </a:extLst>
          </p:cNvPr>
          <p:cNvPicPr>
            <a:picLocks noChangeAspect="1"/>
          </p:cNvPicPr>
          <p:nvPr/>
        </p:nvPicPr>
        <p:blipFill>
          <a:blip r:embed="rId2"/>
          <a:stretch>
            <a:fillRect/>
          </a:stretch>
        </p:blipFill>
        <p:spPr>
          <a:xfrm>
            <a:off x="5660077" y="3933879"/>
            <a:ext cx="5342245" cy="1988665"/>
          </a:xfrm>
          <a:prstGeom prst="rect">
            <a:avLst/>
          </a:prstGeom>
        </p:spPr>
      </p:pic>
      <p:pic>
        <p:nvPicPr>
          <p:cNvPr id="16" name="Immagine 15" descr="Immagine che contiene testo, schermata, Carattere&#10;&#10;Il contenuto generato dall'IA potrebbe non essere corretto.">
            <a:extLst>
              <a:ext uri="{FF2B5EF4-FFF2-40B4-BE49-F238E27FC236}">
                <a16:creationId xmlns:a16="http://schemas.microsoft.com/office/drawing/2014/main" id="{F59893A2-2238-17FB-4BDD-8AE8BF56B712}"/>
              </a:ext>
            </a:extLst>
          </p:cNvPr>
          <p:cNvPicPr>
            <a:picLocks noChangeAspect="1"/>
          </p:cNvPicPr>
          <p:nvPr/>
        </p:nvPicPr>
        <p:blipFill>
          <a:blip r:embed="rId3"/>
          <a:stretch>
            <a:fillRect/>
          </a:stretch>
        </p:blipFill>
        <p:spPr>
          <a:xfrm>
            <a:off x="1189675" y="3933879"/>
            <a:ext cx="4470402" cy="1988558"/>
          </a:xfrm>
          <a:prstGeom prst="rect">
            <a:avLst/>
          </a:prstGeom>
        </p:spPr>
      </p:pic>
      <p:sp>
        <p:nvSpPr>
          <p:cNvPr id="17" name="CasellaDiTesto 16">
            <a:extLst>
              <a:ext uri="{FF2B5EF4-FFF2-40B4-BE49-F238E27FC236}">
                <a16:creationId xmlns:a16="http://schemas.microsoft.com/office/drawing/2014/main" id="{DFEB7640-A8B4-44D1-F7A7-77A52DBF9476}"/>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18" name="CasellaDiTesto 17">
            <a:extLst>
              <a:ext uri="{FF2B5EF4-FFF2-40B4-BE49-F238E27FC236}">
                <a16:creationId xmlns:a16="http://schemas.microsoft.com/office/drawing/2014/main" id="{C4A61F6B-2D7C-8A49-785D-11B52AB2B5F0}"/>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19" name="CasellaDiTesto 18">
            <a:extLst>
              <a:ext uri="{FF2B5EF4-FFF2-40B4-BE49-F238E27FC236}">
                <a16:creationId xmlns:a16="http://schemas.microsoft.com/office/drawing/2014/main" id="{D027B482-495C-5339-D59A-AF7EAFAD15BE}"/>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20" name="CasellaDiTesto 19">
            <a:extLst>
              <a:ext uri="{FF2B5EF4-FFF2-40B4-BE49-F238E27FC236}">
                <a16:creationId xmlns:a16="http://schemas.microsoft.com/office/drawing/2014/main" id="{2D715C70-3C5B-2444-6043-46BB8D79E8FC}"/>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18</a:t>
            </a:fld>
            <a:r>
              <a:rPr lang="en-GB" sz="1100" noProof="0" dirty="0"/>
              <a:t>/29</a:t>
            </a:r>
          </a:p>
        </p:txBody>
      </p:sp>
    </p:spTree>
    <p:extLst>
      <p:ext uri="{BB962C8B-B14F-4D97-AF65-F5344CB8AC3E}">
        <p14:creationId xmlns:p14="http://schemas.microsoft.com/office/powerpoint/2010/main" val="3929513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22F78-2400-BA02-03CE-35B55E045CDD}"/>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EE3B2752-DFCC-F463-5C18-A1C1213256C2}"/>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#pragma </a:t>
            </a:r>
            <a:r>
              <a:rPr lang="en-GB" sz="4000" b="1" noProof="0" dirty="0" err="1"/>
              <a:t>omp</a:t>
            </a:r>
            <a:r>
              <a:rPr lang="en-GB" sz="4000" b="1" noProof="0" dirty="0"/>
              <a:t> – Serial implementation</a:t>
            </a:r>
          </a:p>
        </p:txBody>
      </p:sp>
      <p:sp>
        <p:nvSpPr>
          <p:cNvPr id="15" name="Sottotitolo 2">
            <a:extLst>
              <a:ext uri="{FF2B5EF4-FFF2-40B4-BE49-F238E27FC236}">
                <a16:creationId xmlns:a16="http://schemas.microsoft.com/office/drawing/2014/main" id="{C94CD2C6-2CA6-612B-0BD3-37C2E45189A1}"/>
              </a:ext>
            </a:extLst>
          </p:cNvPr>
          <p:cNvSpPr txBox="1">
            <a:spLocks/>
          </p:cNvSpPr>
          <p:nvPr/>
        </p:nvSpPr>
        <p:spPr>
          <a:xfrm>
            <a:off x="817287" y="4367804"/>
            <a:ext cx="3418283" cy="203380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100" b="1" noProof="0" dirty="0"/>
              <a:t>Test Parameters:</a:t>
            </a:r>
          </a:p>
          <a:p>
            <a:pPr marL="180000" indent="-180000" algn="l">
              <a:lnSpc>
                <a:spcPct val="120000"/>
              </a:lnSpc>
              <a:spcBef>
                <a:spcPts val="0"/>
              </a:spcBef>
              <a:buFont typeface="Arial" panose="020B0604020202020204" pitchFamily="34" charset="0"/>
              <a:buChar char="•"/>
            </a:pPr>
            <a:r>
              <a:rPr lang="en-GB" sz="1000" dirty="0"/>
              <a:t>Grid Size: 16384 x 16384</a:t>
            </a:r>
          </a:p>
          <a:p>
            <a:pPr marL="180000" indent="-180000" algn="l">
              <a:lnSpc>
                <a:spcPct val="120000"/>
              </a:lnSpc>
              <a:spcBef>
                <a:spcPts val="0"/>
              </a:spcBef>
              <a:buFont typeface="Arial" panose="020B0604020202020204" pitchFamily="34" charset="0"/>
              <a:buChar char="•"/>
            </a:pPr>
            <a:r>
              <a:rPr lang="en-GB" sz="1000" dirty="0"/>
              <a:t>Iterations: 500</a:t>
            </a:r>
          </a:p>
          <a:p>
            <a:pPr marL="180000" indent="-180000" algn="l">
              <a:lnSpc>
                <a:spcPct val="120000"/>
              </a:lnSpc>
              <a:spcBef>
                <a:spcPts val="0"/>
              </a:spcBef>
              <a:buFont typeface="Arial" panose="020B0604020202020204" pitchFamily="34" charset="0"/>
              <a:buChar char="•"/>
            </a:pPr>
            <a:r>
              <a:rPr lang="en-GB" sz="1000" noProof="0" dirty="0"/>
              <a:t>Platform: </a:t>
            </a:r>
            <a:r>
              <a:rPr lang="pt-BR" sz="1000" dirty="0"/>
              <a:t>Leonardo DCGP (2x Intel Xeon Platinum 8480+, 112 cores)  - </a:t>
            </a:r>
            <a:r>
              <a:rPr lang="pt-BR" sz="1000" b="1" dirty="0"/>
              <a:t>1 node used</a:t>
            </a:r>
          </a:p>
          <a:p>
            <a:pPr algn="l">
              <a:lnSpc>
                <a:spcPct val="120000"/>
              </a:lnSpc>
              <a:spcBef>
                <a:spcPts val="300"/>
              </a:spcBef>
            </a:pPr>
            <a:r>
              <a:rPr lang="en-US" sz="1100" dirty="0"/>
              <a:t>The results demonstrate that the </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fopenmp</a:t>
            </a:r>
            <a:r>
              <a:rPr lang="en-US" sz="1100" dirty="0">
                <a:latin typeface="Courier New" panose="02070309020205020404" pitchFamily="49" charset="0"/>
                <a:cs typeface="Courier New" panose="02070309020205020404" pitchFamily="49" charset="0"/>
              </a:rPr>
              <a:t> </a:t>
            </a:r>
            <a:r>
              <a:rPr lang="en-US" sz="1100" dirty="0"/>
              <a:t>compiler flag acts solely as a runtime enabler. Without explicit </a:t>
            </a:r>
            <a:r>
              <a:rPr lang="en-US" sz="1100" dirty="0">
                <a:latin typeface="Courier New" panose="02070309020205020404" pitchFamily="49" charset="0"/>
                <a:cs typeface="Courier New" panose="02070309020205020404" pitchFamily="49" charset="0"/>
              </a:rPr>
              <a:t>#pragma </a:t>
            </a:r>
            <a:r>
              <a:rPr lang="en-US" sz="1100" dirty="0" err="1">
                <a:latin typeface="Courier New" panose="02070309020205020404" pitchFamily="49" charset="0"/>
                <a:cs typeface="Courier New" panose="02070309020205020404" pitchFamily="49" charset="0"/>
              </a:rPr>
              <a:t>omp</a:t>
            </a:r>
            <a:r>
              <a:rPr lang="en-US" sz="1100" dirty="0"/>
              <a:t> directives, the </a:t>
            </a:r>
            <a:r>
              <a:rPr lang="en-US" sz="1100" dirty="0" err="1">
                <a:latin typeface="Courier New" panose="02070309020205020404" pitchFamily="49" charset="0"/>
                <a:cs typeface="Courier New" panose="02070309020205020404" pitchFamily="49" charset="0"/>
              </a:rPr>
              <a:t>ofast</a:t>
            </a:r>
            <a:r>
              <a:rPr lang="en-US" sz="1100" dirty="0"/>
              <a:t> variant executes on a single master thread, leaving the remaining 111 cores idle.</a:t>
            </a:r>
            <a:endParaRPr lang="en-GB" sz="1100" noProof="0" dirty="0"/>
          </a:p>
          <a:p>
            <a:pPr algn="l">
              <a:lnSpc>
                <a:spcPct val="120000"/>
              </a:lnSpc>
              <a:spcBef>
                <a:spcPts val="0"/>
              </a:spcBef>
              <a:spcAft>
                <a:spcPts val="600"/>
              </a:spcAft>
            </a:pPr>
            <a:endParaRPr lang="en-GB" sz="1800" b="1" noProof="0" dirty="0">
              <a:solidFill>
                <a:schemeClr val="accent2"/>
              </a:solidFill>
            </a:endParaRPr>
          </a:p>
        </p:txBody>
      </p:sp>
      <p:pic>
        <p:nvPicPr>
          <p:cNvPr id="3" name="Immagine 2" descr="Immagine che contiene testo, linea, diagramma, Diagramma&#10;&#10;Il contenuto generato dall'IA potrebbe non essere corretto.">
            <a:extLst>
              <a:ext uri="{FF2B5EF4-FFF2-40B4-BE49-F238E27FC236}">
                <a16:creationId xmlns:a16="http://schemas.microsoft.com/office/drawing/2014/main" id="{B688ABA8-A837-E4DB-4427-8F01A837B510}"/>
              </a:ext>
            </a:extLst>
          </p:cNvPr>
          <p:cNvPicPr>
            <a:picLocks noChangeAspect="1"/>
          </p:cNvPicPr>
          <p:nvPr/>
        </p:nvPicPr>
        <p:blipFill>
          <a:blip r:embed="rId2"/>
          <a:stretch>
            <a:fillRect/>
          </a:stretch>
        </p:blipFill>
        <p:spPr>
          <a:xfrm>
            <a:off x="819660" y="1283272"/>
            <a:ext cx="10552675" cy="3042071"/>
          </a:xfrm>
          <a:prstGeom prst="rect">
            <a:avLst/>
          </a:prstGeom>
        </p:spPr>
      </p:pic>
      <p:sp>
        <p:nvSpPr>
          <p:cNvPr id="10" name="Sottotitolo 2">
            <a:extLst>
              <a:ext uri="{FF2B5EF4-FFF2-40B4-BE49-F238E27FC236}">
                <a16:creationId xmlns:a16="http://schemas.microsoft.com/office/drawing/2014/main" id="{CDECB3CC-3DDF-21B6-BB95-E54579AB8458}"/>
              </a:ext>
            </a:extLst>
          </p:cNvPr>
          <p:cNvSpPr txBox="1">
            <a:spLocks/>
          </p:cNvSpPr>
          <p:nvPr/>
        </p:nvSpPr>
        <p:spPr>
          <a:xfrm>
            <a:off x="4574243" y="4376430"/>
            <a:ext cx="3418283" cy="202517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US" sz="1100" b="1" noProof="0" dirty="0"/>
              <a:t>Speedup fixed problem size:</a:t>
            </a:r>
            <a:endParaRPr lang="en-GB" sz="1000" dirty="0"/>
          </a:p>
          <a:p>
            <a:pPr algn="l">
              <a:lnSpc>
                <a:spcPct val="120000"/>
              </a:lnSpc>
              <a:spcBef>
                <a:spcPts val="0"/>
              </a:spcBef>
              <a:spcAft>
                <a:spcPts val="600"/>
              </a:spcAft>
            </a:pPr>
            <a:endParaRPr lang="en-GB" sz="1800" b="1" noProof="0" dirty="0">
              <a:solidFill>
                <a:schemeClr val="accent2"/>
              </a:solidFill>
            </a:endParaRPr>
          </a:p>
          <a:p>
            <a:pPr algn="l">
              <a:lnSpc>
                <a:spcPct val="120000"/>
              </a:lnSpc>
              <a:spcBef>
                <a:spcPts val="0"/>
              </a:spcBef>
              <a:spcAft>
                <a:spcPts val="600"/>
              </a:spcAft>
            </a:pPr>
            <a:endParaRPr lang="en-US" sz="1100" dirty="0"/>
          </a:p>
          <a:p>
            <a:pPr algn="l">
              <a:lnSpc>
                <a:spcPct val="120000"/>
              </a:lnSpc>
              <a:spcBef>
                <a:spcPts val="0"/>
              </a:spcBef>
              <a:spcAft>
                <a:spcPts val="600"/>
              </a:spcAft>
            </a:pPr>
            <a:r>
              <a:rPr lang="en-US" sz="1050" dirty="0"/>
              <a:t>The dashed line represents Ideal Scaling . The divergence observed in </a:t>
            </a:r>
            <a:r>
              <a:rPr lang="en-US" sz="1050" dirty="0" err="1">
                <a:latin typeface="Courier New" panose="02070309020205020404" pitchFamily="49" charset="0"/>
                <a:cs typeface="Courier New" panose="02070309020205020404" pitchFamily="49" charset="0"/>
              </a:rPr>
              <a:t>ofast_omp_improved</a:t>
            </a:r>
            <a:r>
              <a:rPr lang="en-US" sz="1050" dirty="0">
                <a:latin typeface="Courier New" panose="02070309020205020404" pitchFamily="49" charset="0"/>
                <a:cs typeface="Courier New" panose="02070309020205020404" pitchFamily="49" charset="0"/>
              </a:rPr>
              <a:t> </a:t>
            </a:r>
            <a:r>
              <a:rPr lang="en-US" sz="1050" dirty="0"/>
              <a:t>after 32 threads highlights the transition from a compute-limited regime to a memory-bandwidth limited regime.</a:t>
            </a:r>
            <a:endParaRPr lang="en-GB" sz="1050" dirty="0"/>
          </a:p>
          <a:p>
            <a:pPr algn="l">
              <a:lnSpc>
                <a:spcPct val="120000"/>
              </a:lnSpc>
              <a:spcBef>
                <a:spcPts val="0"/>
              </a:spcBef>
              <a:spcAft>
                <a:spcPts val="600"/>
              </a:spcAft>
            </a:pPr>
            <a:endParaRPr lang="en-GB" sz="1600" b="1" noProof="0" dirty="0">
              <a:solidFill>
                <a:schemeClr val="accent2"/>
              </a:solidFill>
            </a:endParaRPr>
          </a:p>
        </p:txBody>
      </p:sp>
      <p:pic>
        <p:nvPicPr>
          <p:cNvPr id="13" name="Immagine 12" descr="Immagine che contiene Carattere, testo, schizzo, bianco&#10;&#10;Il contenuto generato dall'IA potrebbe non essere corretto.">
            <a:extLst>
              <a:ext uri="{FF2B5EF4-FFF2-40B4-BE49-F238E27FC236}">
                <a16:creationId xmlns:a16="http://schemas.microsoft.com/office/drawing/2014/main" id="{A7FC0993-4B93-134F-2246-AA6F9DA5C157}"/>
              </a:ext>
            </a:extLst>
          </p:cNvPr>
          <p:cNvPicPr>
            <a:picLocks noChangeAspect="1"/>
          </p:cNvPicPr>
          <p:nvPr/>
        </p:nvPicPr>
        <p:blipFill>
          <a:blip r:embed="rId3"/>
          <a:stretch>
            <a:fillRect/>
          </a:stretch>
        </p:blipFill>
        <p:spPr>
          <a:xfrm>
            <a:off x="4737452" y="4780587"/>
            <a:ext cx="658242" cy="428623"/>
          </a:xfrm>
          <a:prstGeom prst="rect">
            <a:avLst/>
          </a:prstGeom>
        </p:spPr>
      </p:pic>
      <p:sp>
        <p:nvSpPr>
          <p:cNvPr id="17" name="Sottotitolo 2">
            <a:extLst>
              <a:ext uri="{FF2B5EF4-FFF2-40B4-BE49-F238E27FC236}">
                <a16:creationId xmlns:a16="http://schemas.microsoft.com/office/drawing/2014/main" id="{3B14FDE4-6646-7B9A-3B8D-371BA59889B6}"/>
              </a:ext>
            </a:extLst>
          </p:cNvPr>
          <p:cNvSpPr txBox="1">
            <a:spLocks/>
          </p:cNvSpPr>
          <p:nvPr/>
        </p:nvSpPr>
        <p:spPr>
          <a:xfrm>
            <a:off x="8155735" y="4367804"/>
            <a:ext cx="3418283" cy="202517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US" sz="1100" b="1" noProof="0" dirty="0"/>
              <a:t>OpenMP Scaling Efficiency:</a:t>
            </a:r>
            <a:endParaRPr lang="en-GB" sz="1800" b="1" noProof="0" dirty="0">
              <a:solidFill>
                <a:schemeClr val="accent2"/>
              </a:solidFill>
            </a:endParaRPr>
          </a:p>
          <a:p>
            <a:pPr algn="l">
              <a:lnSpc>
                <a:spcPct val="120000"/>
              </a:lnSpc>
              <a:spcBef>
                <a:spcPts val="0"/>
              </a:spcBef>
              <a:spcAft>
                <a:spcPts val="600"/>
              </a:spcAft>
            </a:pPr>
            <a:endParaRPr lang="en-US" sz="1100" dirty="0"/>
          </a:p>
          <a:p>
            <a:pPr algn="l">
              <a:lnSpc>
                <a:spcPct val="120000"/>
              </a:lnSpc>
              <a:spcBef>
                <a:spcPts val="0"/>
              </a:spcBef>
              <a:spcAft>
                <a:spcPts val="600"/>
              </a:spcAft>
            </a:pPr>
            <a:endParaRPr lang="en-US" sz="1050" dirty="0"/>
          </a:p>
          <a:p>
            <a:pPr algn="l">
              <a:lnSpc>
                <a:spcPct val="120000"/>
              </a:lnSpc>
              <a:spcBef>
                <a:spcPts val="0"/>
              </a:spcBef>
              <a:spcAft>
                <a:spcPts val="600"/>
              </a:spcAft>
            </a:pPr>
            <a:r>
              <a:rPr lang="en-US" sz="1050" dirty="0"/>
              <a:t>Ideal behavior is represented by </a:t>
            </a:r>
            <a:r>
              <a:rPr lang="en-US" sz="1050" i="1" dirty="0"/>
              <a:t>E</a:t>
            </a:r>
            <a:r>
              <a:rPr lang="en-US" sz="1050" i="1" baseline="-25000" dirty="0"/>
              <a:t>n</a:t>
            </a:r>
            <a:r>
              <a:rPr lang="en-US" sz="1050" dirty="0"/>
              <a:t> = 100%. The sharp decline in efficiency as threads increase is indicative of the memory wall. Since the 5-point stencil has low arithmetic intensity, memory bus becomes the primary bottleneck once the aggregate request rate from the cores exceeds the available bandwidth.</a:t>
            </a:r>
            <a:endParaRPr lang="en-GB" sz="1600" b="1" noProof="0" dirty="0">
              <a:solidFill>
                <a:schemeClr val="accent2"/>
              </a:solidFill>
            </a:endParaRPr>
          </a:p>
        </p:txBody>
      </p:sp>
      <p:pic>
        <p:nvPicPr>
          <p:cNvPr id="19" name="Immagine 18" descr="Immagine che contiene Carattere, testo, bianco, tipografia&#10;&#10;Il contenuto generato dall'IA potrebbe non essere corretto.">
            <a:extLst>
              <a:ext uri="{FF2B5EF4-FFF2-40B4-BE49-F238E27FC236}">
                <a16:creationId xmlns:a16="http://schemas.microsoft.com/office/drawing/2014/main" id="{1AFD0532-148A-709B-FCDB-D08C2B46E142}"/>
              </a:ext>
            </a:extLst>
          </p:cNvPr>
          <p:cNvPicPr>
            <a:picLocks noChangeAspect="1"/>
          </p:cNvPicPr>
          <p:nvPr/>
        </p:nvPicPr>
        <p:blipFill>
          <a:blip r:embed="rId4"/>
          <a:stretch>
            <a:fillRect/>
          </a:stretch>
        </p:blipFill>
        <p:spPr>
          <a:xfrm>
            <a:off x="8233374" y="4601201"/>
            <a:ext cx="2791186" cy="649378"/>
          </a:xfrm>
          <a:prstGeom prst="rect">
            <a:avLst/>
          </a:prstGeom>
        </p:spPr>
      </p:pic>
      <p:sp>
        <p:nvSpPr>
          <p:cNvPr id="20" name="CasellaDiTesto 19">
            <a:extLst>
              <a:ext uri="{FF2B5EF4-FFF2-40B4-BE49-F238E27FC236}">
                <a16:creationId xmlns:a16="http://schemas.microsoft.com/office/drawing/2014/main" id="{9FD2DAAD-DA21-5030-9258-B5F2BCE193B7}"/>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21" name="CasellaDiTesto 20">
            <a:extLst>
              <a:ext uri="{FF2B5EF4-FFF2-40B4-BE49-F238E27FC236}">
                <a16:creationId xmlns:a16="http://schemas.microsoft.com/office/drawing/2014/main" id="{7163B909-A626-5463-47FA-8B169EC41EDB}"/>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22" name="CasellaDiTesto 21">
            <a:extLst>
              <a:ext uri="{FF2B5EF4-FFF2-40B4-BE49-F238E27FC236}">
                <a16:creationId xmlns:a16="http://schemas.microsoft.com/office/drawing/2014/main" id="{3C6E5E74-81A0-EA4F-F4B2-6CABACEB2D6E}"/>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23" name="CasellaDiTesto 22">
            <a:extLst>
              <a:ext uri="{FF2B5EF4-FFF2-40B4-BE49-F238E27FC236}">
                <a16:creationId xmlns:a16="http://schemas.microsoft.com/office/drawing/2014/main" id="{596091AC-8219-13F2-DCBB-1236E1FA02EB}"/>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19</a:t>
            </a:fld>
            <a:r>
              <a:rPr lang="en-GB" sz="1100" noProof="0" dirty="0"/>
              <a:t>/29</a:t>
            </a:r>
          </a:p>
        </p:txBody>
      </p:sp>
    </p:spTree>
    <p:extLst>
      <p:ext uri="{BB962C8B-B14F-4D97-AF65-F5344CB8AC3E}">
        <p14:creationId xmlns:p14="http://schemas.microsoft.com/office/powerpoint/2010/main" val="2132034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B623-FCC3-FC14-D270-0963634248F3}"/>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7EC294E9-91A4-A5CB-AA87-FC20D6B14EA5}"/>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Strong Scaling Results (1/4)</a:t>
            </a:r>
          </a:p>
        </p:txBody>
      </p:sp>
      <p:sp>
        <p:nvSpPr>
          <p:cNvPr id="2" name="CasellaDiTesto 1">
            <a:extLst>
              <a:ext uri="{FF2B5EF4-FFF2-40B4-BE49-F238E27FC236}">
                <a16:creationId xmlns:a16="http://schemas.microsoft.com/office/drawing/2014/main" id="{4BEEB1C1-8252-BBE7-C98D-93B7D7A779C4}"/>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5B3E9A4F-3491-22BF-4853-444F03EC44C3}"/>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325350AA-BAA1-0CD1-8645-903B49130F65}"/>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C0C179DC-0D74-EC88-C372-6EA468EAA9E2}"/>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20</a:t>
            </a:fld>
            <a:r>
              <a:rPr lang="en-GB" sz="1100" noProof="0" dirty="0"/>
              <a:t>/29</a:t>
            </a:r>
          </a:p>
        </p:txBody>
      </p:sp>
      <p:pic>
        <p:nvPicPr>
          <p:cNvPr id="27" name="Immagine 26" descr="Immagine che contiene testo, diagramma, linea, Diagramma&#10;&#10;Il contenuto generato dall'IA potrebbe non essere corretto.">
            <a:extLst>
              <a:ext uri="{FF2B5EF4-FFF2-40B4-BE49-F238E27FC236}">
                <a16:creationId xmlns:a16="http://schemas.microsoft.com/office/drawing/2014/main" id="{BCDE1D2E-ED0F-2BDD-D647-43AFFED496EF}"/>
              </a:ext>
            </a:extLst>
          </p:cNvPr>
          <p:cNvPicPr>
            <a:picLocks noChangeAspect="1"/>
          </p:cNvPicPr>
          <p:nvPr/>
        </p:nvPicPr>
        <p:blipFill>
          <a:blip r:embed="rId2"/>
          <a:stretch>
            <a:fillRect/>
          </a:stretch>
        </p:blipFill>
        <p:spPr>
          <a:xfrm>
            <a:off x="822034" y="1473243"/>
            <a:ext cx="10593459" cy="4487719"/>
          </a:xfrm>
          <a:prstGeom prst="rect">
            <a:avLst/>
          </a:prstGeom>
        </p:spPr>
      </p:pic>
    </p:spTree>
    <p:extLst>
      <p:ext uri="{BB962C8B-B14F-4D97-AF65-F5344CB8AC3E}">
        <p14:creationId xmlns:p14="http://schemas.microsoft.com/office/powerpoint/2010/main" val="460286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7B805-EB22-8F5E-910A-9600305C9F80}"/>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0777EBEA-D961-5A01-5E64-B4CA08C7DD82}"/>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Strong Scaling Results (2/4)</a:t>
            </a:r>
          </a:p>
        </p:txBody>
      </p:sp>
      <p:sp>
        <p:nvSpPr>
          <p:cNvPr id="2" name="CasellaDiTesto 1">
            <a:extLst>
              <a:ext uri="{FF2B5EF4-FFF2-40B4-BE49-F238E27FC236}">
                <a16:creationId xmlns:a16="http://schemas.microsoft.com/office/drawing/2014/main" id="{550D8A17-0F97-4926-7E61-8436A21C9A65}"/>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6DB6D123-7DB3-311A-1D01-B47E95B90FF7}"/>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31EF16CC-BDE9-282E-2CFD-9E17FD4AA663}"/>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259D3DA4-170F-1622-28D1-89AFF32BFE9F}"/>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21</a:t>
            </a:fld>
            <a:r>
              <a:rPr lang="en-GB" sz="1100" noProof="0" dirty="0"/>
              <a:t>/29</a:t>
            </a:r>
          </a:p>
        </p:txBody>
      </p:sp>
      <p:sp>
        <p:nvSpPr>
          <p:cNvPr id="18" name="Sottotitolo 2">
            <a:extLst>
              <a:ext uri="{FF2B5EF4-FFF2-40B4-BE49-F238E27FC236}">
                <a16:creationId xmlns:a16="http://schemas.microsoft.com/office/drawing/2014/main" id="{AAB9DD7B-11AD-EA15-0952-2EFF3E587D53}"/>
              </a:ext>
            </a:extLst>
          </p:cNvPr>
          <p:cNvSpPr txBox="1">
            <a:spLocks/>
          </p:cNvSpPr>
          <p:nvPr/>
        </p:nvSpPr>
        <p:spPr>
          <a:xfrm>
            <a:off x="7811527" y="1473243"/>
            <a:ext cx="3558435" cy="496286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0"/>
              </a:spcBef>
              <a:spcAft>
                <a:spcPts val="600"/>
              </a:spcAft>
            </a:pPr>
            <a:r>
              <a:rPr lang="en-GB" sz="1600" b="1" noProof="0" dirty="0"/>
              <a:t>Test Parameters</a:t>
            </a:r>
          </a:p>
          <a:p>
            <a:pPr marL="180000" indent="-180000" algn="l">
              <a:lnSpc>
                <a:spcPct val="120000"/>
              </a:lnSpc>
              <a:spcBef>
                <a:spcPts val="0"/>
              </a:spcBef>
              <a:buFont typeface="Arial" panose="020B0604020202020204" pitchFamily="34" charset="0"/>
              <a:buChar char="•"/>
            </a:pPr>
            <a:r>
              <a:rPr lang="en-GB" sz="1200" b="1" dirty="0"/>
              <a:t>Grid Size</a:t>
            </a:r>
            <a:r>
              <a:rPr lang="en-GB" sz="1200" dirty="0"/>
              <a:t>: 16384 x 16384</a:t>
            </a:r>
          </a:p>
          <a:p>
            <a:pPr marL="180000" indent="-180000" algn="l">
              <a:lnSpc>
                <a:spcPct val="120000"/>
              </a:lnSpc>
              <a:spcBef>
                <a:spcPts val="0"/>
              </a:spcBef>
              <a:buFont typeface="Arial" panose="020B0604020202020204" pitchFamily="34" charset="0"/>
              <a:buChar char="•"/>
            </a:pPr>
            <a:r>
              <a:rPr lang="en-GB" sz="1200" b="1" dirty="0"/>
              <a:t>Iterations</a:t>
            </a:r>
            <a:r>
              <a:rPr lang="en-GB" sz="1200" dirty="0"/>
              <a:t>: 500</a:t>
            </a:r>
          </a:p>
          <a:p>
            <a:pPr marL="180000" indent="-180000" algn="l">
              <a:lnSpc>
                <a:spcPct val="120000"/>
              </a:lnSpc>
              <a:spcBef>
                <a:spcPts val="0"/>
              </a:spcBef>
              <a:buFont typeface="Arial" panose="020B0604020202020204" pitchFamily="34" charset="0"/>
              <a:buChar char="•"/>
            </a:pPr>
            <a:r>
              <a:rPr lang="en-GB" sz="1200" b="1" noProof="0" dirty="0"/>
              <a:t>Platform</a:t>
            </a:r>
            <a:r>
              <a:rPr lang="en-GB" sz="1200" noProof="0" dirty="0"/>
              <a:t>: </a:t>
            </a:r>
            <a:r>
              <a:rPr lang="pt-BR" sz="1200" dirty="0"/>
              <a:t>Leonardo DCGP – from 1 to 16 nodes</a:t>
            </a:r>
          </a:p>
          <a:p>
            <a:pPr marL="360000" lvl="1" indent="-108000" algn="l">
              <a:lnSpc>
                <a:spcPct val="120000"/>
              </a:lnSpc>
              <a:spcBef>
                <a:spcPts val="0"/>
              </a:spcBef>
              <a:buFont typeface="Arial" panose="020B0604020202020204" pitchFamily="34" charset="0"/>
              <a:buChar char="•"/>
            </a:pPr>
            <a:r>
              <a:rPr lang="en-US" sz="1100" dirty="0"/>
              <a:t>16x7 (Many-MPI): 16 tasks/node, 7 threads/task</a:t>
            </a:r>
          </a:p>
          <a:p>
            <a:pPr marL="360000" lvl="1" indent="-108000" algn="l">
              <a:lnSpc>
                <a:spcPct val="120000"/>
              </a:lnSpc>
              <a:spcBef>
                <a:spcPts val="0"/>
              </a:spcBef>
              <a:buFont typeface="Arial" panose="020B0604020202020204" pitchFamily="34" charset="0"/>
              <a:buChar char="•"/>
            </a:pPr>
            <a:r>
              <a:rPr lang="en-US" sz="1100" dirty="0"/>
              <a:t>8x14 (Standard): 8 tasks/node, 14 threads/task</a:t>
            </a:r>
          </a:p>
          <a:p>
            <a:pPr marL="360000" lvl="1" indent="-108000" algn="l">
              <a:lnSpc>
                <a:spcPct val="120000"/>
              </a:lnSpc>
              <a:spcBef>
                <a:spcPts val="0"/>
              </a:spcBef>
              <a:buFont typeface="Arial" panose="020B0604020202020204" pitchFamily="34" charset="0"/>
              <a:buChar char="•"/>
            </a:pPr>
            <a:r>
              <a:rPr lang="en-US" sz="1100" dirty="0"/>
              <a:t>2x56 (Few-tasks): 2 tasks/node, 56 threads/task</a:t>
            </a:r>
          </a:p>
          <a:p>
            <a:pPr algn="l">
              <a:lnSpc>
                <a:spcPct val="120000"/>
              </a:lnSpc>
              <a:spcBef>
                <a:spcPts val="0"/>
              </a:spcBef>
            </a:pPr>
            <a:endParaRPr lang="en-US" sz="1200" dirty="0"/>
          </a:p>
          <a:p>
            <a:pPr algn="l">
              <a:lnSpc>
                <a:spcPct val="120000"/>
              </a:lnSpc>
              <a:spcBef>
                <a:spcPts val="0"/>
              </a:spcBef>
            </a:pPr>
            <a:r>
              <a:rPr lang="en-GB" sz="1600" b="1" dirty="0"/>
              <a:t>Analysis of Results</a:t>
            </a:r>
          </a:p>
          <a:p>
            <a:pPr marL="171450" indent="-171450" algn="l">
              <a:lnSpc>
                <a:spcPct val="120000"/>
              </a:lnSpc>
              <a:spcBef>
                <a:spcPts val="0"/>
              </a:spcBef>
              <a:buFont typeface="Arial" panose="020B0604020202020204" pitchFamily="34" charset="0"/>
              <a:buChar char="•"/>
            </a:pPr>
            <a:r>
              <a:rPr lang="it-IT" sz="1400" b="1" dirty="0"/>
              <a:t>2x56: </a:t>
            </a:r>
            <a:r>
              <a:rPr lang="en-US" sz="1400" dirty="0"/>
              <a:t>Too many threads sharing the same MPI rank create excessive contention for the memory bandwidth, resulting in a much slower baseline (100.77s vs 12.64s on 1 node).</a:t>
            </a:r>
          </a:p>
          <a:p>
            <a:pPr marL="171450" indent="-171450" algn="l">
              <a:lnSpc>
                <a:spcPct val="120000"/>
              </a:lnSpc>
              <a:spcBef>
                <a:spcPts val="0"/>
              </a:spcBef>
              <a:buFont typeface="Arial" panose="020B0604020202020204" pitchFamily="34" charset="0"/>
              <a:buChar char="•"/>
            </a:pPr>
            <a:r>
              <a:rPr lang="en-US" sz="1400" b="1" dirty="0"/>
              <a:t>8x14</a:t>
            </a:r>
            <a:r>
              <a:rPr lang="en-US" sz="1400" dirty="0"/>
              <a:t>: balanced configuration with 103.1% efficiency.</a:t>
            </a:r>
          </a:p>
          <a:p>
            <a:pPr marL="180000" indent="-180000" algn="l">
              <a:lnSpc>
                <a:spcPct val="120000"/>
              </a:lnSpc>
              <a:spcBef>
                <a:spcPts val="0"/>
              </a:spcBef>
              <a:buFont typeface="Arial" panose="020B0604020202020204" pitchFamily="34" charset="0"/>
              <a:buChar char="•"/>
            </a:pPr>
            <a:r>
              <a:rPr lang="en-GB" sz="1400" b="1" dirty="0"/>
              <a:t>16x7: </a:t>
            </a:r>
            <a:r>
              <a:rPr lang="en-US" sz="1400" dirty="0"/>
              <a:t>achieved the fastest absolute time-to-solution (0.72s at 16 nodes) and the highest speedup (17.46x)</a:t>
            </a:r>
            <a:endParaRPr lang="pt-BR" sz="1100" dirty="0"/>
          </a:p>
          <a:p>
            <a:pPr marL="180000" indent="-180000" algn="l">
              <a:lnSpc>
                <a:spcPct val="120000"/>
              </a:lnSpc>
              <a:spcBef>
                <a:spcPts val="0"/>
              </a:spcBef>
              <a:buFont typeface="Arial" panose="020B0604020202020204" pitchFamily="34" charset="0"/>
              <a:buChar char="•"/>
            </a:pPr>
            <a:endParaRPr lang="pt-BR" sz="1000" dirty="0"/>
          </a:p>
        </p:txBody>
      </p:sp>
      <p:graphicFrame>
        <p:nvGraphicFramePr>
          <p:cNvPr id="25" name="Tabella 24">
            <a:extLst>
              <a:ext uri="{FF2B5EF4-FFF2-40B4-BE49-F238E27FC236}">
                <a16:creationId xmlns:a16="http://schemas.microsoft.com/office/drawing/2014/main" id="{B79723DF-0365-EF9E-D987-BBBE5B00C515}"/>
              </a:ext>
            </a:extLst>
          </p:cNvPr>
          <p:cNvGraphicFramePr>
            <a:graphicFrameLocks noGrp="1"/>
          </p:cNvGraphicFramePr>
          <p:nvPr>
            <p:extLst>
              <p:ext uri="{D42A27DB-BD31-4B8C-83A1-F6EECF244321}">
                <p14:modId xmlns:p14="http://schemas.microsoft.com/office/powerpoint/2010/main" val="1412224145"/>
              </p:ext>
            </p:extLst>
          </p:nvPr>
        </p:nvGraphicFramePr>
        <p:xfrm>
          <a:off x="1134937" y="4766984"/>
          <a:ext cx="6491064" cy="1483360"/>
        </p:xfrm>
        <a:graphic>
          <a:graphicData uri="http://schemas.openxmlformats.org/drawingml/2006/table">
            <a:tbl>
              <a:tblPr firstRow="1" bandRow="1">
                <a:tableStyleId>{5C22544A-7EE6-4342-B048-85BDC9FD1C3A}</a:tableStyleId>
              </a:tblPr>
              <a:tblGrid>
                <a:gridCol w="1160086">
                  <a:extLst>
                    <a:ext uri="{9D8B030D-6E8A-4147-A177-3AD203B41FA5}">
                      <a16:colId xmlns:a16="http://schemas.microsoft.com/office/drawing/2014/main" val="3749737576"/>
                    </a:ext>
                  </a:extLst>
                </a:gridCol>
                <a:gridCol w="1136051">
                  <a:extLst>
                    <a:ext uri="{9D8B030D-6E8A-4147-A177-3AD203B41FA5}">
                      <a16:colId xmlns:a16="http://schemas.microsoft.com/office/drawing/2014/main" val="2818291754"/>
                    </a:ext>
                  </a:extLst>
                </a:gridCol>
                <a:gridCol w="1372806">
                  <a:extLst>
                    <a:ext uri="{9D8B030D-6E8A-4147-A177-3AD203B41FA5}">
                      <a16:colId xmlns:a16="http://schemas.microsoft.com/office/drawing/2014/main" val="834577774"/>
                    </a:ext>
                  </a:extLst>
                </a:gridCol>
                <a:gridCol w="1523908">
                  <a:extLst>
                    <a:ext uri="{9D8B030D-6E8A-4147-A177-3AD203B41FA5}">
                      <a16:colId xmlns:a16="http://schemas.microsoft.com/office/drawing/2014/main" val="1481533631"/>
                    </a:ext>
                  </a:extLst>
                </a:gridCol>
                <a:gridCol w="1298213">
                  <a:extLst>
                    <a:ext uri="{9D8B030D-6E8A-4147-A177-3AD203B41FA5}">
                      <a16:colId xmlns:a16="http://schemas.microsoft.com/office/drawing/2014/main" val="2163432464"/>
                    </a:ext>
                  </a:extLst>
                </a:gridCol>
              </a:tblGrid>
              <a:tr h="370840">
                <a:tc>
                  <a:txBody>
                    <a:bodyPr/>
                    <a:lstStyle/>
                    <a:p>
                      <a:pPr algn="ctr"/>
                      <a:r>
                        <a:rPr lang="it-IT" sz="1600" b="1" dirty="0" err="1"/>
                        <a:t>Config</a:t>
                      </a:r>
                      <a:endParaRPr lang="it-IT" sz="1600" b="1" dirty="0"/>
                    </a:p>
                  </a:txBody>
                  <a:tcPr/>
                </a:tc>
                <a:tc>
                  <a:txBody>
                    <a:bodyPr/>
                    <a:lstStyle/>
                    <a:p>
                      <a:pPr algn="ctr"/>
                      <a:r>
                        <a:rPr lang="it-IT" sz="1600" dirty="0" err="1"/>
                        <a:t>Nodes</a:t>
                      </a:r>
                      <a:endParaRPr lang="it-IT" sz="1600" dirty="0"/>
                    </a:p>
                  </a:txBody>
                  <a:tcPr/>
                </a:tc>
                <a:tc>
                  <a:txBody>
                    <a:bodyPr/>
                    <a:lstStyle/>
                    <a:p>
                      <a:pPr algn="ctr"/>
                      <a:r>
                        <a:rPr lang="it-IT" sz="1600" dirty="0"/>
                        <a:t>Time (s)</a:t>
                      </a:r>
                    </a:p>
                  </a:txBody>
                  <a:tcPr/>
                </a:tc>
                <a:tc>
                  <a:txBody>
                    <a:bodyPr/>
                    <a:lstStyle/>
                    <a:p>
                      <a:pPr algn="ctr"/>
                      <a:r>
                        <a:rPr lang="it-IT" sz="1600" dirty="0" err="1"/>
                        <a:t>Speedup</a:t>
                      </a:r>
                      <a:endParaRPr lang="it-IT" sz="1600" dirty="0"/>
                    </a:p>
                  </a:txBody>
                  <a:tcPr/>
                </a:tc>
                <a:tc>
                  <a:txBody>
                    <a:bodyPr/>
                    <a:lstStyle/>
                    <a:p>
                      <a:pPr algn="ctr"/>
                      <a:r>
                        <a:rPr lang="it-IT" sz="1600" dirty="0" err="1"/>
                        <a:t>Efficiency</a:t>
                      </a:r>
                      <a:endParaRPr lang="it-IT" sz="1600" dirty="0"/>
                    </a:p>
                  </a:txBody>
                  <a:tcPr/>
                </a:tc>
                <a:extLst>
                  <a:ext uri="{0D108BD9-81ED-4DB2-BD59-A6C34878D82A}">
                    <a16:rowId xmlns:a16="http://schemas.microsoft.com/office/drawing/2014/main" val="4282104818"/>
                  </a:ext>
                </a:extLst>
              </a:tr>
              <a:tr h="370840">
                <a:tc>
                  <a:txBody>
                    <a:bodyPr/>
                    <a:lstStyle/>
                    <a:p>
                      <a:pPr algn="ctr"/>
                      <a:r>
                        <a:rPr lang="it-IT" sz="1600" b="1" dirty="0"/>
                        <a:t>2x56</a:t>
                      </a:r>
                    </a:p>
                  </a:txBody>
                  <a:tcPr/>
                </a:tc>
                <a:tc>
                  <a:txBody>
                    <a:bodyPr/>
                    <a:lstStyle/>
                    <a:p>
                      <a:pPr algn="ctr"/>
                      <a:r>
                        <a:rPr lang="it-IT" sz="1600" dirty="0"/>
                        <a:t>16</a:t>
                      </a:r>
                    </a:p>
                  </a:txBody>
                  <a:tcPr/>
                </a:tc>
                <a:tc>
                  <a:txBody>
                    <a:bodyPr/>
                    <a:lstStyle/>
                    <a:p>
                      <a:pPr algn="ctr"/>
                      <a:r>
                        <a:rPr lang="it-IT" sz="1600" dirty="0"/>
                        <a:t>6.10</a:t>
                      </a:r>
                    </a:p>
                  </a:txBody>
                  <a:tcPr/>
                </a:tc>
                <a:tc>
                  <a:txBody>
                    <a:bodyPr/>
                    <a:lstStyle/>
                    <a:p>
                      <a:pPr algn="ctr"/>
                      <a:r>
                        <a:rPr lang="it-IT" sz="1600" dirty="0"/>
                        <a:t>16.51x</a:t>
                      </a:r>
                    </a:p>
                  </a:txBody>
                  <a:tcPr/>
                </a:tc>
                <a:tc>
                  <a:txBody>
                    <a:bodyPr/>
                    <a:lstStyle/>
                    <a:p>
                      <a:pPr algn="ctr"/>
                      <a:r>
                        <a:rPr lang="it-IT" sz="1600" dirty="0"/>
                        <a:t>103.2 %</a:t>
                      </a:r>
                    </a:p>
                  </a:txBody>
                  <a:tcPr/>
                </a:tc>
                <a:extLst>
                  <a:ext uri="{0D108BD9-81ED-4DB2-BD59-A6C34878D82A}">
                    <a16:rowId xmlns:a16="http://schemas.microsoft.com/office/drawing/2014/main" val="3191798005"/>
                  </a:ext>
                </a:extLst>
              </a:tr>
              <a:tr h="370840">
                <a:tc>
                  <a:txBody>
                    <a:bodyPr/>
                    <a:lstStyle/>
                    <a:p>
                      <a:pPr algn="ctr"/>
                      <a:r>
                        <a:rPr lang="it-IT" sz="1600" b="1" dirty="0"/>
                        <a:t>8x14</a:t>
                      </a:r>
                    </a:p>
                  </a:txBody>
                  <a:tcPr/>
                </a:tc>
                <a:tc>
                  <a:txBody>
                    <a:bodyPr/>
                    <a:lstStyle/>
                    <a:p>
                      <a:pPr algn="ctr"/>
                      <a:r>
                        <a:rPr lang="it-IT" sz="1600" dirty="0"/>
                        <a:t>16</a:t>
                      </a:r>
                    </a:p>
                  </a:txBody>
                  <a:tcPr/>
                </a:tc>
                <a:tc>
                  <a:txBody>
                    <a:bodyPr/>
                    <a:lstStyle/>
                    <a:p>
                      <a:pPr algn="ctr"/>
                      <a:r>
                        <a:rPr lang="it-IT" sz="1600" dirty="0"/>
                        <a:t>1.39</a:t>
                      </a:r>
                    </a:p>
                  </a:txBody>
                  <a:tcPr/>
                </a:tc>
                <a:tc>
                  <a:txBody>
                    <a:bodyPr/>
                    <a:lstStyle/>
                    <a:p>
                      <a:pPr algn="ctr"/>
                      <a:r>
                        <a:rPr lang="it-IT" sz="1600" dirty="0"/>
                        <a:t>16.50x</a:t>
                      </a:r>
                    </a:p>
                  </a:txBody>
                  <a:tcPr/>
                </a:tc>
                <a:tc>
                  <a:txBody>
                    <a:bodyPr/>
                    <a:lstStyle/>
                    <a:p>
                      <a:pPr algn="ctr"/>
                      <a:r>
                        <a:rPr lang="it-IT" sz="1600" dirty="0"/>
                        <a:t>103.1 %</a:t>
                      </a:r>
                    </a:p>
                  </a:txBody>
                  <a:tcPr/>
                </a:tc>
                <a:extLst>
                  <a:ext uri="{0D108BD9-81ED-4DB2-BD59-A6C34878D82A}">
                    <a16:rowId xmlns:a16="http://schemas.microsoft.com/office/drawing/2014/main" val="334549347"/>
                  </a:ext>
                </a:extLst>
              </a:tr>
              <a:tr h="370840">
                <a:tc>
                  <a:txBody>
                    <a:bodyPr/>
                    <a:lstStyle/>
                    <a:p>
                      <a:pPr algn="ctr"/>
                      <a:r>
                        <a:rPr lang="it-IT" sz="1600" b="1" dirty="0"/>
                        <a:t>16x7</a:t>
                      </a:r>
                    </a:p>
                  </a:txBody>
                  <a:tcPr/>
                </a:tc>
                <a:tc>
                  <a:txBody>
                    <a:bodyPr/>
                    <a:lstStyle/>
                    <a:p>
                      <a:pPr algn="ctr"/>
                      <a:r>
                        <a:rPr lang="it-IT" sz="1600" dirty="0"/>
                        <a:t>16</a:t>
                      </a:r>
                    </a:p>
                  </a:txBody>
                  <a:tcPr/>
                </a:tc>
                <a:tc>
                  <a:txBody>
                    <a:bodyPr/>
                    <a:lstStyle/>
                    <a:p>
                      <a:pPr algn="ctr"/>
                      <a:r>
                        <a:rPr lang="it-IT" sz="1600" dirty="0"/>
                        <a:t>0.72</a:t>
                      </a:r>
                    </a:p>
                  </a:txBody>
                  <a:tcPr/>
                </a:tc>
                <a:tc>
                  <a:txBody>
                    <a:bodyPr/>
                    <a:lstStyle/>
                    <a:p>
                      <a:pPr algn="ctr"/>
                      <a:r>
                        <a:rPr lang="it-IT" sz="1600" dirty="0"/>
                        <a:t>17.46x</a:t>
                      </a:r>
                    </a:p>
                  </a:txBody>
                  <a:tcPr/>
                </a:tc>
                <a:tc>
                  <a:txBody>
                    <a:bodyPr/>
                    <a:lstStyle/>
                    <a:p>
                      <a:pPr algn="ctr"/>
                      <a:r>
                        <a:rPr lang="it-IT" sz="1600" dirty="0"/>
                        <a:t>109.1 %</a:t>
                      </a:r>
                    </a:p>
                  </a:txBody>
                  <a:tcPr/>
                </a:tc>
                <a:extLst>
                  <a:ext uri="{0D108BD9-81ED-4DB2-BD59-A6C34878D82A}">
                    <a16:rowId xmlns:a16="http://schemas.microsoft.com/office/drawing/2014/main" val="2441188491"/>
                  </a:ext>
                </a:extLst>
              </a:tr>
            </a:tbl>
          </a:graphicData>
        </a:graphic>
      </p:graphicFrame>
      <p:pic>
        <p:nvPicPr>
          <p:cNvPr id="27" name="Immagine 26" descr="Immagine che contiene testo, diagramma, linea, Diagramma&#10;&#10;Il contenuto generato dall'IA potrebbe non essere corretto.">
            <a:extLst>
              <a:ext uri="{FF2B5EF4-FFF2-40B4-BE49-F238E27FC236}">
                <a16:creationId xmlns:a16="http://schemas.microsoft.com/office/drawing/2014/main" id="{7BF97388-3B84-105E-AC71-189D5EB8637F}"/>
              </a:ext>
            </a:extLst>
          </p:cNvPr>
          <p:cNvPicPr>
            <a:picLocks noChangeAspect="1"/>
          </p:cNvPicPr>
          <p:nvPr/>
        </p:nvPicPr>
        <p:blipFill>
          <a:blip r:embed="rId2"/>
          <a:stretch>
            <a:fillRect/>
          </a:stretch>
        </p:blipFill>
        <p:spPr>
          <a:xfrm>
            <a:off x="847348" y="1435204"/>
            <a:ext cx="6885415" cy="2916877"/>
          </a:xfrm>
          <a:prstGeom prst="rect">
            <a:avLst/>
          </a:prstGeom>
        </p:spPr>
      </p:pic>
    </p:spTree>
    <p:extLst>
      <p:ext uri="{BB962C8B-B14F-4D97-AF65-F5344CB8AC3E}">
        <p14:creationId xmlns:p14="http://schemas.microsoft.com/office/powerpoint/2010/main" val="1516422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0CB9B-8837-BFE3-0BD7-EB908A4FA4C9}"/>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F896B566-E689-3D4D-01A0-43ECD60BB997}"/>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Strong Scaling Results (3/4)</a:t>
            </a:r>
          </a:p>
        </p:txBody>
      </p:sp>
      <p:sp>
        <p:nvSpPr>
          <p:cNvPr id="2" name="CasellaDiTesto 1">
            <a:extLst>
              <a:ext uri="{FF2B5EF4-FFF2-40B4-BE49-F238E27FC236}">
                <a16:creationId xmlns:a16="http://schemas.microsoft.com/office/drawing/2014/main" id="{09862993-6D0F-11E8-86E3-4FCA7DD5D2F0}"/>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72549121-39C2-8A13-3FF6-5F44B0749F31}"/>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06580FE3-CF31-9667-F593-348C9E827B9A}"/>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FED6F7CF-2B37-E892-E948-AE5E9F57BDAC}"/>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22</a:t>
            </a:fld>
            <a:r>
              <a:rPr lang="en-GB" sz="1100" noProof="0" dirty="0"/>
              <a:t>/29</a:t>
            </a:r>
          </a:p>
        </p:txBody>
      </p:sp>
      <p:sp>
        <p:nvSpPr>
          <p:cNvPr id="18" name="Sottotitolo 2">
            <a:extLst>
              <a:ext uri="{FF2B5EF4-FFF2-40B4-BE49-F238E27FC236}">
                <a16:creationId xmlns:a16="http://schemas.microsoft.com/office/drawing/2014/main" id="{590C86A4-4E66-C143-7FF5-87C2206E21A6}"/>
              </a:ext>
            </a:extLst>
          </p:cNvPr>
          <p:cNvSpPr txBox="1">
            <a:spLocks/>
          </p:cNvSpPr>
          <p:nvPr/>
        </p:nvSpPr>
        <p:spPr>
          <a:xfrm>
            <a:off x="822034" y="5069617"/>
            <a:ext cx="10547928" cy="136649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71450" algn="l">
              <a:lnSpc>
                <a:spcPct val="120000"/>
              </a:lnSpc>
              <a:spcBef>
                <a:spcPts val="0"/>
              </a:spcBef>
              <a:buFont typeface="Arial" panose="020B0604020202020204" pitchFamily="34" charset="0"/>
              <a:buChar char="•"/>
            </a:pPr>
            <a:r>
              <a:rPr lang="en-US" sz="1400" b="1" dirty="0"/>
              <a:t>At small scales, </a:t>
            </a:r>
            <a:r>
              <a:rPr lang="en-US" sz="1400" dirty="0"/>
              <a:t>the implementation follows the ideal line closely, achieving a speedup of 1.90x on 2 nodes (near-perfect efficiency)</a:t>
            </a:r>
          </a:p>
          <a:p>
            <a:pPr marL="171450" indent="-171450" algn="l">
              <a:lnSpc>
                <a:spcPct val="120000"/>
              </a:lnSpc>
              <a:spcBef>
                <a:spcPts val="0"/>
              </a:spcBef>
              <a:buFont typeface="Arial" panose="020B0604020202020204" pitchFamily="34" charset="0"/>
              <a:buChar char="•"/>
            </a:pPr>
            <a:r>
              <a:rPr lang="en-US" sz="1400" b="1" dirty="0"/>
              <a:t>At 16 nodes</a:t>
            </a:r>
            <a:r>
              <a:rPr lang="en-US" sz="1400" dirty="0"/>
              <a:t> (1792 cores), the implementation achieves a </a:t>
            </a:r>
            <a:r>
              <a:rPr lang="en-US" sz="1400" b="1" dirty="0"/>
              <a:t>17.46x</a:t>
            </a:r>
            <a:r>
              <a:rPr lang="en-US" sz="1400" dirty="0"/>
              <a:t> speedup with a parallel efficiency of </a:t>
            </a:r>
            <a:r>
              <a:rPr lang="en-US" sz="1400" b="1" dirty="0"/>
              <a:t>109.1%:</a:t>
            </a:r>
          </a:p>
          <a:p>
            <a:pPr marL="171450" indent="-171450" algn="l">
              <a:lnSpc>
                <a:spcPct val="120000"/>
              </a:lnSpc>
              <a:spcBef>
                <a:spcPts val="0"/>
              </a:spcBef>
              <a:buFont typeface="Arial" panose="020B0604020202020204" pitchFamily="34" charset="0"/>
              <a:buChar char="•"/>
            </a:pPr>
            <a:r>
              <a:rPr lang="en-US" sz="1400" dirty="0"/>
              <a:t>Performance surpasses the theoretical ideal (</a:t>
            </a:r>
            <a:r>
              <a:rPr lang="en-US" sz="1400" b="1" dirty="0"/>
              <a:t>Super-linear Scaling</a:t>
            </a:r>
            <a:r>
              <a:rPr lang="en-US" sz="1400" dirty="0"/>
              <a:t>), transcending standard expectations of Amdahl's Law; as the local problem size per node decreases, </a:t>
            </a:r>
            <a:r>
              <a:rPr lang="en-US" sz="1400" b="1" dirty="0"/>
              <a:t>cache fitting </a:t>
            </a:r>
            <a:r>
              <a:rPr lang="en-US" sz="1400" dirty="0"/>
              <a:t>allows the working set to reside in high-speed memory, effectively mitigating the memory-bandwidth bottleneck</a:t>
            </a:r>
            <a:endParaRPr lang="pt-BR" sz="1200" b="1" dirty="0"/>
          </a:p>
        </p:txBody>
      </p:sp>
      <p:pic>
        <p:nvPicPr>
          <p:cNvPr id="10" name="Immagine 9" descr="Immagine che contiene testo, diagramma, linea, Diagramma&#10;&#10;Il contenuto generato dall'IA potrebbe non essere corretto.">
            <a:extLst>
              <a:ext uri="{FF2B5EF4-FFF2-40B4-BE49-F238E27FC236}">
                <a16:creationId xmlns:a16="http://schemas.microsoft.com/office/drawing/2014/main" id="{33761CB6-B417-C6A9-F93F-C9FF091C0230}"/>
              </a:ext>
            </a:extLst>
          </p:cNvPr>
          <p:cNvPicPr>
            <a:picLocks noChangeAspect="1"/>
          </p:cNvPicPr>
          <p:nvPr/>
        </p:nvPicPr>
        <p:blipFill>
          <a:blip r:embed="rId2"/>
          <a:stretch>
            <a:fillRect/>
          </a:stretch>
        </p:blipFill>
        <p:spPr>
          <a:xfrm>
            <a:off x="1790538" y="1411794"/>
            <a:ext cx="8610920" cy="3657516"/>
          </a:xfrm>
          <a:prstGeom prst="rect">
            <a:avLst/>
          </a:prstGeom>
        </p:spPr>
      </p:pic>
    </p:spTree>
    <p:extLst>
      <p:ext uri="{BB962C8B-B14F-4D97-AF65-F5344CB8AC3E}">
        <p14:creationId xmlns:p14="http://schemas.microsoft.com/office/powerpoint/2010/main" val="2816468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4A03D-F027-6BF3-420D-957BA1E85529}"/>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D9D75020-51B1-204F-93C4-49E404617D6B}"/>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Strong Scaling Results (4/4)</a:t>
            </a:r>
          </a:p>
        </p:txBody>
      </p:sp>
      <p:sp>
        <p:nvSpPr>
          <p:cNvPr id="2" name="CasellaDiTesto 1">
            <a:extLst>
              <a:ext uri="{FF2B5EF4-FFF2-40B4-BE49-F238E27FC236}">
                <a16:creationId xmlns:a16="http://schemas.microsoft.com/office/drawing/2014/main" id="{34FB37CE-FC6A-2C83-D54F-34A671D1D39D}"/>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7632FBA7-8D64-4A9B-7652-41E5B6425E95}"/>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600D4E59-7B06-D80C-6620-D3DD7B117D87}"/>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9EB5C492-2ED7-FAAD-A811-6EE31B7B0CAF}"/>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23</a:t>
            </a:fld>
            <a:r>
              <a:rPr lang="en-GB" sz="1100" noProof="0" dirty="0"/>
              <a:t>/29</a:t>
            </a:r>
          </a:p>
        </p:txBody>
      </p:sp>
      <p:sp>
        <p:nvSpPr>
          <p:cNvPr id="18" name="Sottotitolo 2">
            <a:extLst>
              <a:ext uri="{FF2B5EF4-FFF2-40B4-BE49-F238E27FC236}">
                <a16:creationId xmlns:a16="http://schemas.microsoft.com/office/drawing/2014/main" id="{26427B55-B623-1CC1-8394-8F14418FDD6D}"/>
              </a:ext>
            </a:extLst>
          </p:cNvPr>
          <p:cNvSpPr txBox="1">
            <a:spLocks/>
          </p:cNvSpPr>
          <p:nvPr/>
        </p:nvSpPr>
        <p:spPr>
          <a:xfrm>
            <a:off x="8650100" y="1840375"/>
            <a:ext cx="2719861" cy="44791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400" b="1" dirty="0"/>
              <a:t>Low Communication Overhead </a:t>
            </a:r>
          </a:p>
          <a:p>
            <a:pPr algn="l"/>
            <a:r>
              <a:rPr lang="en-US" sz="1600" dirty="0"/>
              <a:t>Despite scaling from 16 to 256 MPI tasks (1 to 16 nodes), the communication time represents a small and well-controlled fraction of total execution time:</a:t>
            </a:r>
          </a:p>
          <a:p>
            <a:pPr marL="144000" indent="-144000" algn="l">
              <a:spcBef>
                <a:spcPts val="600"/>
              </a:spcBef>
              <a:buFont typeface="Arial" panose="020B0604020202020204" pitchFamily="34" charset="0"/>
              <a:buChar char="•"/>
            </a:pPr>
            <a:r>
              <a:rPr lang="en-US" sz="1600" dirty="0"/>
              <a:t>   </a:t>
            </a:r>
            <a:r>
              <a:rPr lang="en-US" sz="1600" b="1" dirty="0"/>
              <a:t>1 node</a:t>
            </a:r>
            <a:r>
              <a:rPr lang="en-US" sz="1600" dirty="0"/>
              <a:t>: 4.6% of 12.64s</a:t>
            </a:r>
          </a:p>
          <a:p>
            <a:pPr marL="144000" indent="-144000" algn="l">
              <a:spcBef>
                <a:spcPts val="600"/>
              </a:spcBef>
              <a:buFont typeface="Arial" panose="020B0604020202020204" pitchFamily="34" charset="0"/>
              <a:buChar char="•"/>
            </a:pPr>
            <a:r>
              <a:rPr lang="en-US" sz="1600" dirty="0"/>
              <a:t>   </a:t>
            </a:r>
            <a:r>
              <a:rPr lang="en-US" sz="1600" b="1" dirty="0"/>
              <a:t>2 nodes</a:t>
            </a:r>
            <a:r>
              <a:rPr lang="en-US" sz="1600" dirty="0"/>
              <a:t>: 4.9% of 6.36s</a:t>
            </a:r>
          </a:p>
          <a:p>
            <a:pPr marL="144000" indent="-144000" algn="l">
              <a:spcBef>
                <a:spcPts val="600"/>
              </a:spcBef>
              <a:buFont typeface="Arial" panose="020B0604020202020204" pitchFamily="34" charset="0"/>
              <a:buChar char="•"/>
            </a:pPr>
            <a:r>
              <a:rPr lang="en-US" sz="1600" dirty="0"/>
              <a:t>   </a:t>
            </a:r>
            <a:r>
              <a:rPr lang="en-US" sz="1600" b="1" dirty="0"/>
              <a:t>4 nodes</a:t>
            </a:r>
            <a:r>
              <a:rPr lang="en-US" sz="1600" dirty="0"/>
              <a:t>: 5.6% of 3.12s</a:t>
            </a:r>
          </a:p>
          <a:p>
            <a:pPr marL="144000" indent="-144000" algn="l">
              <a:spcBef>
                <a:spcPts val="600"/>
              </a:spcBef>
              <a:buFont typeface="Arial" panose="020B0604020202020204" pitchFamily="34" charset="0"/>
              <a:buChar char="•"/>
            </a:pPr>
            <a:r>
              <a:rPr lang="en-US" sz="1600" dirty="0"/>
              <a:t>   </a:t>
            </a:r>
            <a:r>
              <a:rPr lang="en-US" sz="1600" b="1" dirty="0"/>
              <a:t>8 nodes</a:t>
            </a:r>
            <a:r>
              <a:rPr lang="en-US" sz="1600" dirty="0"/>
              <a:t>: 7.7% of 1.54s</a:t>
            </a:r>
          </a:p>
          <a:p>
            <a:pPr marL="144000" indent="-144000" algn="l">
              <a:spcBef>
                <a:spcPts val="600"/>
              </a:spcBef>
              <a:buFont typeface="Arial" panose="020B0604020202020204" pitchFamily="34" charset="0"/>
              <a:buChar char="•"/>
            </a:pPr>
            <a:r>
              <a:rPr lang="en-US" sz="1600" dirty="0"/>
              <a:t>   </a:t>
            </a:r>
            <a:r>
              <a:rPr lang="en-US" sz="1600" b="1" dirty="0"/>
              <a:t>16 nodes</a:t>
            </a:r>
            <a:r>
              <a:rPr lang="en-US" sz="1600" dirty="0"/>
              <a:t>: 10.9% of 0.72s</a:t>
            </a:r>
          </a:p>
          <a:p>
            <a:pPr algn="l"/>
            <a:endParaRPr lang="en-US" sz="1400" dirty="0"/>
          </a:p>
          <a:p>
            <a:pPr marL="171450" indent="-171450" algn="l">
              <a:lnSpc>
                <a:spcPct val="120000"/>
              </a:lnSpc>
              <a:spcBef>
                <a:spcPts val="0"/>
              </a:spcBef>
              <a:buFont typeface="Arial" panose="020B0604020202020204" pitchFamily="34" charset="0"/>
              <a:buChar char="•"/>
            </a:pPr>
            <a:endParaRPr lang="pt-BR" sz="1050" b="1" dirty="0"/>
          </a:p>
        </p:txBody>
      </p:sp>
      <p:pic>
        <p:nvPicPr>
          <p:cNvPr id="6" name="Immagine 5" descr="Immagine che contiene testo, linea, diagramma, Diagramma&#10;&#10;Il contenuto generato dall'IA potrebbe non essere corretto.">
            <a:extLst>
              <a:ext uri="{FF2B5EF4-FFF2-40B4-BE49-F238E27FC236}">
                <a16:creationId xmlns:a16="http://schemas.microsoft.com/office/drawing/2014/main" id="{34EE5B6B-CD95-CBBA-2393-B043D7076FF3}"/>
              </a:ext>
            </a:extLst>
          </p:cNvPr>
          <p:cNvPicPr>
            <a:picLocks noChangeAspect="1"/>
          </p:cNvPicPr>
          <p:nvPr/>
        </p:nvPicPr>
        <p:blipFill>
          <a:blip r:embed="rId2"/>
          <a:stretch>
            <a:fillRect/>
          </a:stretch>
        </p:blipFill>
        <p:spPr>
          <a:xfrm>
            <a:off x="822034" y="1591535"/>
            <a:ext cx="7828067" cy="4658809"/>
          </a:xfrm>
          <a:prstGeom prst="rect">
            <a:avLst/>
          </a:prstGeom>
        </p:spPr>
      </p:pic>
    </p:spTree>
    <p:extLst>
      <p:ext uri="{BB962C8B-B14F-4D97-AF65-F5344CB8AC3E}">
        <p14:creationId xmlns:p14="http://schemas.microsoft.com/office/powerpoint/2010/main" val="1651827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5DDDD-E54C-BF73-7BD2-1A574682AF61}"/>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984C730E-E84C-62A6-0806-299A0E0646F7}"/>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Weak Scaling Results (</a:t>
            </a:r>
            <a:r>
              <a:rPr lang="en-GB" sz="4000" b="1" dirty="0"/>
              <a:t>1</a:t>
            </a:r>
            <a:r>
              <a:rPr lang="en-GB" sz="4000" b="1" noProof="0" dirty="0"/>
              <a:t>/3)</a:t>
            </a:r>
          </a:p>
        </p:txBody>
      </p:sp>
      <p:sp>
        <p:nvSpPr>
          <p:cNvPr id="2" name="CasellaDiTesto 1">
            <a:extLst>
              <a:ext uri="{FF2B5EF4-FFF2-40B4-BE49-F238E27FC236}">
                <a16:creationId xmlns:a16="http://schemas.microsoft.com/office/drawing/2014/main" id="{005CF2AE-50C4-A81C-8D6E-C25DECE827E9}"/>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25A78106-6496-4508-54DE-82FBDCEA62B0}"/>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015EE1EC-594A-561A-BB62-BBAAE6698015}"/>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39C5A915-0DCF-77FB-49CE-44A2366B1189}"/>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24</a:t>
            </a:fld>
            <a:r>
              <a:rPr lang="en-GB" sz="1100" noProof="0" dirty="0"/>
              <a:t>/29</a:t>
            </a:r>
          </a:p>
        </p:txBody>
      </p:sp>
      <p:pic>
        <p:nvPicPr>
          <p:cNvPr id="6" name="Immagine 5" descr="Immagine che contiene testo, linea, schermata, Diagramma&#10;&#10;Il contenuto generato dall'IA potrebbe non essere corretto.">
            <a:extLst>
              <a:ext uri="{FF2B5EF4-FFF2-40B4-BE49-F238E27FC236}">
                <a16:creationId xmlns:a16="http://schemas.microsoft.com/office/drawing/2014/main" id="{B58C13CD-C6E9-9737-A18A-9A9D9D440415}"/>
              </a:ext>
            </a:extLst>
          </p:cNvPr>
          <p:cNvPicPr>
            <a:picLocks noChangeAspect="1"/>
          </p:cNvPicPr>
          <p:nvPr/>
        </p:nvPicPr>
        <p:blipFill>
          <a:blip r:embed="rId2"/>
          <a:stretch>
            <a:fillRect/>
          </a:stretch>
        </p:blipFill>
        <p:spPr>
          <a:xfrm>
            <a:off x="822034" y="1598019"/>
            <a:ext cx="10597686" cy="4489510"/>
          </a:xfrm>
          <a:prstGeom prst="rect">
            <a:avLst/>
          </a:prstGeom>
        </p:spPr>
      </p:pic>
    </p:spTree>
    <p:extLst>
      <p:ext uri="{BB962C8B-B14F-4D97-AF65-F5344CB8AC3E}">
        <p14:creationId xmlns:p14="http://schemas.microsoft.com/office/powerpoint/2010/main" val="3529360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CAED7-48BF-E73B-4A9E-EB79D1AAB55F}"/>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CAD362F2-E7E1-DD90-68C4-FB0E518E938C}"/>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Weak Scaling Results (2/3)</a:t>
            </a:r>
          </a:p>
        </p:txBody>
      </p:sp>
      <p:sp>
        <p:nvSpPr>
          <p:cNvPr id="2" name="CasellaDiTesto 1">
            <a:extLst>
              <a:ext uri="{FF2B5EF4-FFF2-40B4-BE49-F238E27FC236}">
                <a16:creationId xmlns:a16="http://schemas.microsoft.com/office/drawing/2014/main" id="{EEF6CA53-7043-3A6B-DE2B-A2D09644B178}"/>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451125C1-F864-742A-0082-B9E8CF5A3DFE}"/>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65E86C1A-C562-A95B-4B97-7D626C29F1F1}"/>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9C742016-7D6F-0A0D-21CB-B8F0A2A7D2D9}"/>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25</a:t>
            </a:fld>
            <a:r>
              <a:rPr lang="en-GB" sz="1100" noProof="0" dirty="0"/>
              <a:t>/29</a:t>
            </a:r>
          </a:p>
        </p:txBody>
      </p:sp>
      <p:pic>
        <p:nvPicPr>
          <p:cNvPr id="7" name="Immagine 6" descr="Immagine che contiene testo, linea, schermata, diagramma&#10;&#10;Il contenuto generato dall'IA potrebbe non essere corretto.">
            <a:extLst>
              <a:ext uri="{FF2B5EF4-FFF2-40B4-BE49-F238E27FC236}">
                <a16:creationId xmlns:a16="http://schemas.microsoft.com/office/drawing/2014/main" id="{CBEDE744-5114-DF88-0591-5589B7B55B11}"/>
              </a:ext>
            </a:extLst>
          </p:cNvPr>
          <p:cNvPicPr>
            <a:picLocks noChangeAspect="1"/>
          </p:cNvPicPr>
          <p:nvPr/>
        </p:nvPicPr>
        <p:blipFill>
          <a:blip r:embed="rId2"/>
          <a:stretch>
            <a:fillRect/>
          </a:stretch>
        </p:blipFill>
        <p:spPr>
          <a:xfrm>
            <a:off x="820811" y="1722739"/>
            <a:ext cx="10549151" cy="3914131"/>
          </a:xfrm>
          <a:prstGeom prst="rect">
            <a:avLst/>
          </a:prstGeom>
        </p:spPr>
      </p:pic>
    </p:spTree>
    <p:extLst>
      <p:ext uri="{BB962C8B-B14F-4D97-AF65-F5344CB8AC3E}">
        <p14:creationId xmlns:p14="http://schemas.microsoft.com/office/powerpoint/2010/main" val="2138814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43097-B9DF-CC85-3280-351ED9329377}"/>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11546475-B02D-46EC-4BEE-CD4050B2DC30}"/>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Weak Scaling Results (3/3)</a:t>
            </a:r>
          </a:p>
        </p:txBody>
      </p:sp>
      <p:sp>
        <p:nvSpPr>
          <p:cNvPr id="2" name="CasellaDiTesto 1">
            <a:extLst>
              <a:ext uri="{FF2B5EF4-FFF2-40B4-BE49-F238E27FC236}">
                <a16:creationId xmlns:a16="http://schemas.microsoft.com/office/drawing/2014/main" id="{864C02B5-2E96-CDB8-BD13-355D684FCDA5}"/>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FC12452F-6523-205C-FFA1-5AF9F2FEF4DA}"/>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CBE473DC-C8AD-CA9C-F9BE-1B5921ED1682}"/>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C35B1629-FA3D-F7BB-D07B-6EC3C0993312}"/>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26</a:t>
            </a:fld>
            <a:r>
              <a:rPr lang="en-GB" sz="1100" noProof="0" dirty="0"/>
              <a:t>/29</a:t>
            </a:r>
          </a:p>
        </p:txBody>
      </p:sp>
      <p:graphicFrame>
        <p:nvGraphicFramePr>
          <p:cNvPr id="9" name="Tabella 8">
            <a:extLst>
              <a:ext uri="{FF2B5EF4-FFF2-40B4-BE49-F238E27FC236}">
                <a16:creationId xmlns:a16="http://schemas.microsoft.com/office/drawing/2014/main" id="{E63464D7-C230-1EA8-56F8-02A18D2B299C}"/>
              </a:ext>
            </a:extLst>
          </p:cNvPr>
          <p:cNvGraphicFramePr>
            <a:graphicFrameLocks noGrp="1"/>
          </p:cNvGraphicFramePr>
          <p:nvPr>
            <p:extLst>
              <p:ext uri="{D42A27DB-BD31-4B8C-83A1-F6EECF244321}">
                <p14:modId xmlns:p14="http://schemas.microsoft.com/office/powerpoint/2010/main" val="1034260589"/>
              </p:ext>
            </p:extLst>
          </p:nvPr>
        </p:nvGraphicFramePr>
        <p:xfrm>
          <a:off x="822035" y="1588554"/>
          <a:ext cx="10547929" cy="2687114"/>
        </p:xfrm>
        <a:graphic>
          <a:graphicData uri="http://schemas.openxmlformats.org/drawingml/2006/table">
            <a:tbl>
              <a:tblPr firstRow="1" bandRow="1">
                <a:tableStyleId>{5C22544A-7EE6-4342-B048-85BDC9FD1C3A}</a:tableStyleId>
              </a:tblPr>
              <a:tblGrid>
                <a:gridCol w="718993">
                  <a:extLst>
                    <a:ext uri="{9D8B030D-6E8A-4147-A177-3AD203B41FA5}">
                      <a16:colId xmlns:a16="http://schemas.microsoft.com/office/drawing/2014/main" val="3749737576"/>
                    </a:ext>
                  </a:extLst>
                </a:gridCol>
                <a:gridCol w="773047">
                  <a:extLst>
                    <a:ext uri="{9D8B030D-6E8A-4147-A177-3AD203B41FA5}">
                      <a16:colId xmlns:a16="http://schemas.microsoft.com/office/drawing/2014/main" val="2818291754"/>
                    </a:ext>
                  </a:extLst>
                </a:gridCol>
                <a:gridCol w="675519">
                  <a:extLst>
                    <a:ext uri="{9D8B030D-6E8A-4147-A177-3AD203B41FA5}">
                      <a16:colId xmlns:a16="http://schemas.microsoft.com/office/drawing/2014/main" val="834577774"/>
                    </a:ext>
                  </a:extLst>
                </a:gridCol>
                <a:gridCol w="1217869">
                  <a:extLst>
                    <a:ext uri="{9D8B030D-6E8A-4147-A177-3AD203B41FA5}">
                      <a16:colId xmlns:a16="http://schemas.microsoft.com/office/drawing/2014/main" val="1481533631"/>
                    </a:ext>
                  </a:extLst>
                </a:gridCol>
                <a:gridCol w="1217869">
                  <a:extLst>
                    <a:ext uri="{9D8B030D-6E8A-4147-A177-3AD203B41FA5}">
                      <a16:colId xmlns:a16="http://schemas.microsoft.com/office/drawing/2014/main" val="2018526369"/>
                    </a:ext>
                  </a:extLst>
                </a:gridCol>
                <a:gridCol w="922724">
                  <a:extLst>
                    <a:ext uri="{9D8B030D-6E8A-4147-A177-3AD203B41FA5}">
                      <a16:colId xmlns:a16="http://schemas.microsoft.com/office/drawing/2014/main" val="2983474503"/>
                    </a:ext>
                  </a:extLst>
                </a:gridCol>
                <a:gridCol w="962650">
                  <a:extLst>
                    <a:ext uri="{9D8B030D-6E8A-4147-A177-3AD203B41FA5}">
                      <a16:colId xmlns:a16="http://schemas.microsoft.com/office/drawing/2014/main" val="2163432464"/>
                    </a:ext>
                  </a:extLst>
                </a:gridCol>
                <a:gridCol w="962650">
                  <a:extLst>
                    <a:ext uri="{9D8B030D-6E8A-4147-A177-3AD203B41FA5}">
                      <a16:colId xmlns:a16="http://schemas.microsoft.com/office/drawing/2014/main" val="1539444193"/>
                    </a:ext>
                  </a:extLst>
                </a:gridCol>
                <a:gridCol w="1171308">
                  <a:extLst>
                    <a:ext uri="{9D8B030D-6E8A-4147-A177-3AD203B41FA5}">
                      <a16:colId xmlns:a16="http://schemas.microsoft.com/office/drawing/2014/main" val="2150264145"/>
                    </a:ext>
                  </a:extLst>
                </a:gridCol>
                <a:gridCol w="962650">
                  <a:extLst>
                    <a:ext uri="{9D8B030D-6E8A-4147-A177-3AD203B41FA5}">
                      <a16:colId xmlns:a16="http://schemas.microsoft.com/office/drawing/2014/main" val="2553516732"/>
                    </a:ext>
                  </a:extLst>
                </a:gridCol>
                <a:gridCol w="962650">
                  <a:extLst>
                    <a:ext uri="{9D8B030D-6E8A-4147-A177-3AD203B41FA5}">
                      <a16:colId xmlns:a16="http://schemas.microsoft.com/office/drawing/2014/main" val="2354712956"/>
                    </a:ext>
                  </a:extLst>
                </a:gridCol>
              </a:tblGrid>
              <a:tr h="689564">
                <a:tc>
                  <a:txBody>
                    <a:bodyPr/>
                    <a:lstStyle/>
                    <a:p>
                      <a:pPr algn="ctr"/>
                      <a:r>
                        <a:rPr lang="en-GB" sz="1200" b="1" noProof="0" dirty="0"/>
                        <a:t>Nodes</a:t>
                      </a:r>
                      <a:br>
                        <a:rPr lang="en-GB" sz="1200" b="1" noProof="0" dirty="0"/>
                      </a:br>
                      <a:r>
                        <a:rPr lang="en-GB" sz="1200" b="1" noProof="0" dirty="0"/>
                        <a:t>(16x7)</a:t>
                      </a:r>
                    </a:p>
                  </a:txBody>
                  <a:tcPr anchor="ctr"/>
                </a:tc>
                <a:tc>
                  <a:txBody>
                    <a:bodyPr/>
                    <a:lstStyle/>
                    <a:p>
                      <a:pPr algn="ctr"/>
                      <a:r>
                        <a:rPr lang="en-GB" sz="1200" noProof="0" dirty="0"/>
                        <a:t>Grid</a:t>
                      </a:r>
                    </a:p>
                  </a:txBody>
                  <a:tcPr anchor="ctr"/>
                </a:tc>
                <a:tc>
                  <a:txBody>
                    <a:bodyPr/>
                    <a:lstStyle/>
                    <a:p>
                      <a:pPr algn="ctr"/>
                      <a:r>
                        <a:rPr lang="en-GB" sz="1200" noProof="0" dirty="0"/>
                        <a:t>Points</a:t>
                      </a:r>
                      <a:br>
                        <a:rPr lang="en-GB" sz="1200" noProof="0" dirty="0"/>
                      </a:br>
                      <a:r>
                        <a:rPr lang="en-GB" sz="1200" noProof="0" dirty="0"/>
                        <a:t>(10^9)</a:t>
                      </a:r>
                    </a:p>
                  </a:txBody>
                  <a:tcPr anchor="ctr"/>
                </a:tc>
                <a:tc>
                  <a:txBody>
                    <a:bodyPr/>
                    <a:lstStyle/>
                    <a:p>
                      <a:pPr algn="ctr"/>
                      <a:r>
                        <a:rPr lang="en-GB" sz="1200" noProof="0" dirty="0"/>
                        <a:t>Runtime</a:t>
                      </a:r>
                    </a:p>
                  </a:txBody>
                  <a:tcPr anchor="ct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dirty="0"/>
                        <a:t>Computation</a:t>
                      </a:r>
                    </a:p>
                  </a:txBody>
                  <a:tcPr anchor="ct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dirty="0" err="1"/>
                        <a:t>Commu-nication</a:t>
                      </a:r>
                      <a:endParaRPr lang="en-GB" sz="1200" noProof="0" dirty="0"/>
                    </a:p>
                  </a:txBody>
                  <a:tcPr anchor="ct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dirty="0"/>
                        <a:t>Efficiency </a:t>
                      </a:r>
                    </a:p>
                  </a:txBody>
                  <a:tcPr anchor="ctr">
                    <a:solidFill>
                      <a:schemeClr val="accent1">
                        <a:lumMod val="75000"/>
                      </a:schemeClr>
                    </a:solidFill>
                  </a:tcPr>
                </a:tc>
                <a:tc>
                  <a:txBody>
                    <a:bodyPr/>
                    <a:lstStyle/>
                    <a:p>
                      <a:pPr algn="ctr"/>
                      <a:r>
                        <a:rPr lang="en-GB" sz="1200" noProof="0" dirty="0"/>
                        <a:t>Runtime (Period.)</a:t>
                      </a:r>
                    </a:p>
                  </a:txBody>
                  <a:tcPr anchor="ctr">
                    <a:solidFill>
                      <a:schemeClr val="accent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dirty="0"/>
                        <a:t>Computation</a:t>
                      </a:r>
                      <a:br>
                        <a:rPr lang="en-GB" sz="1200" noProof="0" dirty="0"/>
                      </a:br>
                      <a:r>
                        <a:rPr lang="en-GB" sz="1200" noProof="0" dirty="0"/>
                        <a:t>(Period.)</a:t>
                      </a:r>
                    </a:p>
                  </a:txBody>
                  <a:tcPr anchor="ctr">
                    <a:solidFill>
                      <a:schemeClr val="accent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dirty="0" err="1"/>
                        <a:t>Commu-nication</a:t>
                      </a:r>
                      <a:br>
                        <a:rPr lang="en-GB" sz="1200" noProof="0" dirty="0"/>
                      </a:br>
                      <a:r>
                        <a:rPr lang="en-GB" sz="1200" noProof="0" dirty="0"/>
                        <a:t>(Period.)</a:t>
                      </a:r>
                    </a:p>
                  </a:txBody>
                  <a:tcPr anchor="ctr">
                    <a:solidFill>
                      <a:schemeClr val="accent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dirty="0"/>
                        <a:t>Efficiency (Period.)</a:t>
                      </a:r>
                    </a:p>
                  </a:txBody>
                  <a:tcPr anchor="ctr">
                    <a:solidFill>
                      <a:schemeClr val="accent1">
                        <a:lumMod val="50000"/>
                      </a:schemeClr>
                    </a:solidFill>
                  </a:tcPr>
                </a:tc>
                <a:extLst>
                  <a:ext uri="{0D108BD9-81ED-4DB2-BD59-A6C34878D82A}">
                    <a16:rowId xmlns:a16="http://schemas.microsoft.com/office/drawing/2014/main" val="4282104818"/>
                  </a:ext>
                </a:extLst>
              </a:tr>
              <a:tr h="399510">
                <a:tc>
                  <a:txBody>
                    <a:bodyPr/>
                    <a:lstStyle/>
                    <a:p>
                      <a:pPr algn="ctr"/>
                      <a:r>
                        <a:rPr lang="it-IT" sz="1400" b="1" dirty="0"/>
                        <a:t>1</a:t>
                      </a:r>
                    </a:p>
                  </a:txBody>
                  <a:tcPr anchor="ctr"/>
                </a:tc>
                <a:tc>
                  <a:txBody>
                    <a:bodyPr/>
                    <a:lstStyle/>
                    <a:p>
                      <a:pPr algn="ctr"/>
                      <a:r>
                        <a:rPr lang="it-IT" sz="1400" dirty="0"/>
                        <a:t>16384</a:t>
                      </a:r>
                      <a:r>
                        <a:rPr lang="it-IT" sz="1400" baseline="30000" dirty="0"/>
                        <a:t>2</a:t>
                      </a:r>
                    </a:p>
                  </a:txBody>
                  <a:tcPr anchor="ctr"/>
                </a:tc>
                <a:tc>
                  <a:txBody>
                    <a:bodyPr/>
                    <a:lstStyle/>
                    <a:p>
                      <a:pPr algn="ctr"/>
                      <a:r>
                        <a:rPr lang="it-IT" sz="1400" dirty="0"/>
                        <a:t>0.26</a:t>
                      </a:r>
                    </a:p>
                  </a:txBody>
                  <a:tcPr anchor="ctr"/>
                </a:tc>
                <a:tc>
                  <a:txBody>
                    <a:bodyPr/>
                    <a:lstStyle/>
                    <a:p>
                      <a:pPr algn="ctr"/>
                      <a:r>
                        <a:rPr lang="it-IT" sz="1400" dirty="0"/>
                        <a:t>12.66</a:t>
                      </a:r>
                    </a:p>
                  </a:txBody>
                  <a:tcPr anchor="ctr"/>
                </a:tc>
                <a:tc>
                  <a:txBody>
                    <a:bodyPr/>
                    <a:lstStyle/>
                    <a:p>
                      <a:pPr algn="ctr"/>
                      <a:r>
                        <a:rPr lang="it-IT" sz="1400" dirty="0"/>
                        <a:t>12.52</a:t>
                      </a:r>
                    </a:p>
                  </a:txBody>
                  <a:tcPr anchor="ctr"/>
                </a:tc>
                <a:tc>
                  <a:txBody>
                    <a:bodyPr/>
                    <a:lstStyle/>
                    <a:p>
                      <a:pPr algn="ctr"/>
                      <a:r>
                        <a:rPr lang="it-IT" sz="1400" dirty="0"/>
                        <a:t>0.42</a:t>
                      </a:r>
                    </a:p>
                  </a:txBody>
                  <a:tcPr anchor="ctr"/>
                </a:tc>
                <a:tc>
                  <a:txBody>
                    <a:bodyPr/>
                    <a:lstStyle/>
                    <a:p>
                      <a:pPr algn="ctr"/>
                      <a:r>
                        <a:rPr lang="it-IT" sz="1400" b="1"/>
                        <a:t>100.0 </a:t>
                      </a:r>
                      <a:r>
                        <a:rPr lang="it-IT" sz="1400" b="1" dirty="0"/>
                        <a:t>%</a:t>
                      </a:r>
                    </a:p>
                  </a:txBody>
                  <a:tcPr anchor="ctr"/>
                </a:tc>
                <a:tc>
                  <a:txBody>
                    <a:bodyPr/>
                    <a:lstStyle/>
                    <a:p>
                      <a:pPr algn="ctr"/>
                      <a:r>
                        <a:rPr lang="it-IT" sz="1400" dirty="0"/>
                        <a:t>12.68</a:t>
                      </a:r>
                    </a:p>
                  </a:txBody>
                  <a:tcPr anchor="ctr"/>
                </a:tc>
                <a:tc>
                  <a:txBody>
                    <a:bodyPr/>
                    <a:lstStyle/>
                    <a:p>
                      <a:pPr algn="ctr"/>
                      <a:r>
                        <a:rPr lang="it-IT" sz="1400" dirty="0"/>
                        <a:t>12.53</a:t>
                      </a:r>
                    </a:p>
                  </a:txBody>
                  <a:tcPr anchor="ctr"/>
                </a:tc>
                <a:tc>
                  <a:txBody>
                    <a:bodyPr/>
                    <a:lstStyle/>
                    <a:p>
                      <a:pPr algn="ctr"/>
                      <a:r>
                        <a:rPr lang="it-IT" sz="1400" dirty="0"/>
                        <a:t>0.44</a:t>
                      </a:r>
                    </a:p>
                  </a:txBody>
                  <a:tcPr anchor="ctr"/>
                </a:tc>
                <a:tc>
                  <a:txBody>
                    <a:bodyPr/>
                    <a:lstStyle/>
                    <a:p>
                      <a:pPr algn="ctr"/>
                      <a:r>
                        <a:rPr lang="it-IT" sz="1400" b="1" dirty="0"/>
                        <a:t>100.0 %</a:t>
                      </a:r>
                    </a:p>
                  </a:txBody>
                  <a:tcPr anchor="ctr"/>
                </a:tc>
                <a:extLst>
                  <a:ext uri="{0D108BD9-81ED-4DB2-BD59-A6C34878D82A}">
                    <a16:rowId xmlns:a16="http://schemas.microsoft.com/office/drawing/2014/main" val="3191798005"/>
                  </a:ext>
                </a:extLst>
              </a:tr>
              <a:tr h="399510">
                <a:tc>
                  <a:txBody>
                    <a:bodyPr/>
                    <a:lstStyle/>
                    <a:p>
                      <a:pPr algn="ctr"/>
                      <a:r>
                        <a:rPr lang="it-IT" sz="1400" b="1"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dirty="0"/>
                        <a:t>23170</a:t>
                      </a:r>
                      <a:r>
                        <a:rPr lang="it-IT" sz="1400" baseline="30000" dirty="0"/>
                        <a:t>2</a:t>
                      </a:r>
                    </a:p>
                  </a:txBody>
                  <a:tcPr anchor="ctr"/>
                </a:tc>
                <a:tc>
                  <a:txBody>
                    <a:bodyPr/>
                    <a:lstStyle/>
                    <a:p>
                      <a:pPr algn="ctr"/>
                      <a:r>
                        <a:rPr lang="it-IT" sz="1400" dirty="0"/>
                        <a:t>0.53</a:t>
                      </a:r>
                    </a:p>
                  </a:txBody>
                  <a:tcPr anchor="ctr"/>
                </a:tc>
                <a:tc>
                  <a:txBody>
                    <a:bodyPr/>
                    <a:lstStyle/>
                    <a:p>
                      <a:pPr algn="ctr"/>
                      <a:r>
                        <a:rPr lang="it-IT" sz="1400" dirty="0"/>
                        <a:t>12.94</a:t>
                      </a:r>
                    </a:p>
                  </a:txBody>
                  <a:tcPr anchor="ctr"/>
                </a:tc>
                <a:tc>
                  <a:txBody>
                    <a:bodyPr/>
                    <a:lstStyle/>
                    <a:p>
                      <a:pPr algn="ctr"/>
                      <a:r>
                        <a:rPr lang="it-IT" sz="1400" dirty="0"/>
                        <a:t>12.80</a:t>
                      </a:r>
                    </a:p>
                  </a:txBody>
                  <a:tcPr anchor="ctr"/>
                </a:tc>
                <a:tc>
                  <a:txBody>
                    <a:bodyPr/>
                    <a:lstStyle/>
                    <a:p>
                      <a:pPr algn="ctr"/>
                      <a:r>
                        <a:rPr lang="it-IT" sz="1400" dirty="0"/>
                        <a:t>0.57</a:t>
                      </a:r>
                    </a:p>
                  </a:txBody>
                  <a:tcPr anchor="ctr"/>
                </a:tc>
                <a:tc>
                  <a:txBody>
                    <a:bodyPr/>
                    <a:lstStyle/>
                    <a:p>
                      <a:pPr algn="ctr"/>
                      <a:r>
                        <a:rPr lang="it-IT" sz="1400" b="1" dirty="0"/>
                        <a:t>97.9 %</a:t>
                      </a:r>
                    </a:p>
                  </a:txBody>
                  <a:tcPr anchor="ctr"/>
                </a:tc>
                <a:tc>
                  <a:txBody>
                    <a:bodyPr/>
                    <a:lstStyle/>
                    <a:p>
                      <a:pPr algn="ctr"/>
                      <a:r>
                        <a:rPr lang="it-IT" sz="1400" dirty="0"/>
                        <a:t>13.46</a:t>
                      </a:r>
                    </a:p>
                  </a:txBody>
                  <a:tcPr anchor="ctr"/>
                </a:tc>
                <a:tc>
                  <a:txBody>
                    <a:bodyPr/>
                    <a:lstStyle/>
                    <a:p>
                      <a:pPr algn="ctr"/>
                      <a:r>
                        <a:rPr lang="it-IT" sz="1400" dirty="0"/>
                        <a:t>13.31</a:t>
                      </a:r>
                    </a:p>
                  </a:txBody>
                  <a:tcPr anchor="ctr"/>
                </a:tc>
                <a:tc>
                  <a:txBody>
                    <a:bodyPr/>
                    <a:lstStyle/>
                    <a:p>
                      <a:pPr algn="ctr"/>
                      <a:r>
                        <a:rPr lang="it-IT" sz="1400" dirty="0"/>
                        <a:t>1.07</a:t>
                      </a:r>
                    </a:p>
                  </a:txBody>
                  <a:tcPr anchor="ctr"/>
                </a:tc>
                <a:tc>
                  <a:txBody>
                    <a:bodyPr/>
                    <a:lstStyle/>
                    <a:p>
                      <a:pPr algn="ctr"/>
                      <a:r>
                        <a:rPr lang="it-IT" sz="1400" b="1" dirty="0"/>
                        <a:t>94.2 %</a:t>
                      </a:r>
                    </a:p>
                  </a:txBody>
                  <a:tcPr anchor="ctr"/>
                </a:tc>
                <a:extLst>
                  <a:ext uri="{0D108BD9-81ED-4DB2-BD59-A6C34878D82A}">
                    <a16:rowId xmlns:a16="http://schemas.microsoft.com/office/drawing/2014/main" val="334549347"/>
                  </a:ext>
                </a:extLst>
              </a:tr>
              <a:tr h="399510">
                <a:tc>
                  <a:txBody>
                    <a:bodyPr/>
                    <a:lstStyle/>
                    <a:p>
                      <a:pPr algn="ctr"/>
                      <a:r>
                        <a:rPr lang="it-IT" sz="1400" b="1" dirty="0"/>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dirty="0"/>
                        <a:t>32768</a:t>
                      </a:r>
                      <a:r>
                        <a:rPr lang="it-IT" sz="1400" baseline="30000" dirty="0"/>
                        <a:t>2</a:t>
                      </a:r>
                    </a:p>
                  </a:txBody>
                  <a:tcPr anchor="ctr"/>
                </a:tc>
                <a:tc>
                  <a:txBody>
                    <a:bodyPr/>
                    <a:lstStyle/>
                    <a:p>
                      <a:pPr algn="ctr"/>
                      <a:r>
                        <a:rPr lang="it-IT" sz="1400" dirty="0"/>
                        <a:t>1.07</a:t>
                      </a:r>
                    </a:p>
                  </a:txBody>
                  <a:tcPr anchor="ctr"/>
                </a:tc>
                <a:tc>
                  <a:txBody>
                    <a:bodyPr/>
                    <a:lstStyle/>
                    <a:p>
                      <a:pPr algn="ctr"/>
                      <a:r>
                        <a:rPr lang="it-IT" sz="1400" dirty="0"/>
                        <a:t>12.82</a:t>
                      </a:r>
                    </a:p>
                  </a:txBody>
                  <a:tcPr anchor="ctr"/>
                </a:tc>
                <a:tc>
                  <a:txBody>
                    <a:bodyPr/>
                    <a:lstStyle/>
                    <a:p>
                      <a:pPr algn="ctr"/>
                      <a:r>
                        <a:rPr lang="it-IT" sz="1400" dirty="0"/>
                        <a:t>12.79</a:t>
                      </a:r>
                    </a:p>
                  </a:txBody>
                  <a:tcPr anchor="ctr"/>
                </a:tc>
                <a:tc>
                  <a:txBody>
                    <a:bodyPr/>
                    <a:lstStyle/>
                    <a:p>
                      <a:pPr algn="ctr"/>
                      <a:r>
                        <a:rPr lang="it-IT" sz="1400" dirty="0"/>
                        <a:t>0.60</a:t>
                      </a:r>
                    </a:p>
                  </a:txBody>
                  <a:tcPr anchor="ctr"/>
                </a:tc>
                <a:tc>
                  <a:txBody>
                    <a:bodyPr/>
                    <a:lstStyle/>
                    <a:p>
                      <a:pPr algn="ctr"/>
                      <a:r>
                        <a:rPr lang="it-IT" sz="1400" b="1" dirty="0"/>
                        <a:t>98.8 %</a:t>
                      </a:r>
                    </a:p>
                  </a:txBody>
                  <a:tcPr anchor="ctr"/>
                </a:tc>
                <a:tc>
                  <a:txBody>
                    <a:bodyPr/>
                    <a:lstStyle/>
                    <a:p>
                      <a:pPr algn="ctr"/>
                      <a:r>
                        <a:rPr lang="it-IT" sz="1400" dirty="0"/>
                        <a:t>12.99</a:t>
                      </a:r>
                    </a:p>
                  </a:txBody>
                  <a:tcPr anchor="ctr"/>
                </a:tc>
                <a:tc>
                  <a:txBody>
                    <a:bodyPr/>
                    <a:lstStyle/>
                    <a:p>
                      <a:pPr algn="ctr"/>
                      <a:r>
                        <a:rPr lang="it-IT" sz="1400" dirty="0"/>
                        <a:t>12.90</a:t>
                      </a:r>
                    </a:p>
                  </a:txBody>
                  <a:tcPr anchor="ctr"/>
                </a:tc>
                <a:tc>
                  <a:txBody>
                    <a:bodyPr/>
                    <a:lstStyle/>
                    <a:p>
                      <a:pPr algn="ctr"/>
                      <a:r>
                        <a:rPr lang="it-IT" sz="1400" dirty="0"/>
                        <a:t>0.79</a:t>
                      </a:r>
                    </a:p>
                  </a:txBody>
                  <a:tcPr anchor="ctr"/>
                </a:tc>
                <a:tc>
                  <a:txBody>
                    <a:bodyPr/>
                    <a:lstStyle/>
                    <a:p>
                      <a:pPr algn="ctr"/>
                      <a:r>
                        <a:rPr lang="it-IT" sz="1400" b="1" dirty="0"/>
                        <a:t>97.6 %</a:t>
                      </a:r>
                    </a:p>
                  </a:txBody>
                  <a:tcPr anchor="ctr"/>
                </a:tc>
                <a:extLst>
                  <a:ext uri="{0D108BD9-81ED-4DB2-BD59-A6C34878D82A}">
                    <a16:rowId xmlns:a16="http://schemas.microsoft.com/office/drawing/2014/main" val="2441188491"/>
                  </a:ext>
                </a:extLst>
              </a:tr>
              <a:tr h="399510">
                <a:tc>
                  <a:txBody>
                    <a:bodyPr/>
                    <a:lstStyle/>
                    <a:p>
                      <a:pPr algn="ctr"/>
                      <a:r>
                        <a:rPr lang="it-IT" sz="1400" b="1" dirty="0"/>
                        <a:t>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dirty="0"/>
                        <a:t>46340</a:t>
                      </a:r>
                      <a:r>
                        <a:rPr lang="it-IT" sz="1400" baseline="30000" dirty="0"/>
                        <a:t>2</a:t>
                      </a:r>
                    </a:p>
                  </a:txBody>
                  <a:tcPr anchor="ctr"/>
                </a:tc>
                <a:tc>
                  <a:txBody>
                    <a:bodyPr/>
                    <a:lstStyle/>
                    <a:p>
                      <a:pPr algn="ctr"/>
                      <a:r>
                        <a:rPr lang="it-IT" sz="1400" dirty="0"/>
                        <a:t>2.15</a:t>
                      </a:r>
                    </a:p>
                  </a:txBody>
                  <a:tcPr anchor="ctr"/>
                </a:tc>
                <a:tc>
                  <a:txBody>
                    <a:bodyPr/>
                    <a:lstStyle/>
                    <a:p>
                      <a:pPr algn="ctr"/>
                      <a:r>
                        <a:rPr lang="it-IT" sz="1400" dirty="0"/>
                        <a:t>13.08</a:t>
                      </a:r>
                    </a:p>
                  </a:txBody>
                  <a:tcPr anchor="ctr"/>
                </a:tc>
                <a:tc>
                  <a:txBody>
                    <a:bodyPr/>
                    <a:lstStyle/>
                    <a:p>
                      <a:pPr algn="ctr"/>
                      <a:r>
                        <a:rPr lang="it-IT" sz="1400" dirty="0"/>
                        <a:t>12.95</a:t>
                      </a:r>
                    </a:p>
                  </a:txBody>
                  <a:tcPr anchor="ctr"/>
                </a:tc>
                <a:tc>
                  <a:txBody>
                    <a:bodyPr/>
                    <a:lstStyle/>
                    <a:p>
                      <a:pPr algn="ctr"/>
                      <a:r>
                        <a:rPr lang="it-IT" sz="1400" dirty="0"/>
                        <a:t>0.63</a:t>
                      </a:r>
                    </a:p>
                  </a:txBody>
                  <a:tcPr anchor="ctr"/>
                </a:tc>
                <a:tc>
                  <a:txBody>
                    <a:bodyPr/>
                    <a:lstStyle/>
                    <a:p>
                      <a:pPr algn="ctr"/>
                      <a:r>
                        <a:rPr lang="it-IT" sz="1400" b="1" dirty="0"/>
                        <a:t>96.9 %</a:t>
                      </a:r>
                    </a:p>
                  </a:txBody>
                  <a:tcPr anchor="ctr"/>
                </a:tc>
                <a:tc>
                  <a:txBody>
                    <a:bodyPr/>
                    <a:lstStyle/>
                    <a:p>
                      <a:pPr algn="ctr"/>
                      <a:r>
                        <a:rPr lang="it-IT" sz="1400" dirty="0"/>
                        <a:t>13.19</a:t>
                      </a:r>
                    </a:p>
                  </a:txBody>
                  <a:tcPr anchor="ctr"/>
                </a:tc>
                <a:tc>
                  <a:txBody>
                    <a:bodyPr/>
                    <a:lstStyle/>
                    <a:p>
                      <a:pPr algn="ctr"/>
                      <a:r>
                        <a:rPr lang="it-IT" sz="1400" dirty="0"/>
                        <a:t>13.10</a:t>
                      </a:r>
                    </a:p>
                  </a:txBody>
                  <a:tcPr anchor="ctr"/>
                </a:tc>
                <a:tc>
                  <a:txBody>
                    <a:bodyPr/>
                    <a:lstStyle/>
                    <a:p>
                      <a:pPr algn="ctr"/>
                      <a:r>
                        <a:rPr lang="it-IT" sz="1400" dirty="0"/>
                        <a:t>0.91</a:t>
                      </a:r>
                    </a:p>
                  </a:txBody>
                  <a:tcPr anchor="ctr"/>
                </a:tc>
                <a:tc>
                  <a:txBody>
                    <a:bodyPr/>
                    <a:lstStyle/>
                    <a:p>
                      <a:pPr algn="ctr"/>
                      <a:r>
                        <a:rPr lang="it-IT" sz="1400" b="1" dirty="0"/>
                        <a:t>96.1 %</a:t>
                      </a:r>
                    </a:p>
                  </a:txBody>
                  <a:tcPr anchor="ctr"/>
                </a:tc>
                <a:extLst>
                  <a:ext uri="{0D108BD9-81ED-4DB2-BD59-A6C34878D82A}">
                    <a16:rowId xmlns:a16="http://schemas.microsoft.com/office/drawing/2014/main" val="3531385050"/>
                  </a:ext>
                </a:extLst>
              </a:tr>
              <a:tr h="399510">
                <a:tc>
                  <a:txBody>
                    <a:bodyPr/>
                    <a:lstStyle/>
                    <a:p>
                      <a:pPr algn="ctr"/>
                      <a:r>
                        <a:rPr lang="it-IT" sz="1400" b="1" dirty="0"/>
                        <a:t>16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dirty="0"/>
                        <a:t>65536</a:t>
                      </a:r>
                      <a:r>
                        <a:rPr lang="it-IT" sz="1400" baseline="30000" dirty="0"/>
                        <a:t>2</a:t>
                      </a:r>
                    </a:p>
                  </a:txBody>
                  <a:tcPr anchor="ctr"/>
                </a:tc>
                <a:tc>
                  <a:txBody>
                    <a:bodyPr/>
                    <a:lstStyle/>
                    <a:p>
                      <a:pPr algn="ctr"/>
                      <a:r>
                        <a:rPr lang="it-IT" sz="1400" dirty="0"/>
                        <a:t>4.29</a:t>
                      </a:r>
                    </a:p>
                  </a:txBody>
                  <a:tcPr anchor="ctr"/>
                </a:tc>
                <a:tc>
                  <a:txBody>
                    <a:bodyPr/>
                    <a:lstStyle/>
                    <a:p>
                      <a:pPr algn="ctr"/>
                      <a:r>
                        <a:rPr lang="it-IT" sz="1400"/>
                        <a:t>12.68</a:t>
                      </a:r>
                      <a:endParaRPr lang="it-IT" sz="1400" dirty="0"/>
                    </a:p>
                  </a:txBody>
                  <a:tcPr anchor="ctr"/>
                </a:tc>
                <a:tc>
                  <a:txBody>
                    <a:bodyPr/>
                    <a:lstStyle/>
                    <a:p>
                      <a:pPr algn="ctr"/>
                      <a:r>
                        <a:rPr lang="it-IT" sz="1400" dirty="0"/>
                        <a:t>12.77</a:t>
                      </a:r>
                    </a:p>
                  </a:txBody>
                  <a:tcPr anchor="ctr"/>
                </a:tc>
                <a:tc>
                  <a:txBody>
                    <a:bodyPr/>
                    <a:lstStyle/>
                    <a:p>
                      <a:pPr algn="ctr"/>
                      <a:r>
                        <a:rPr lang="it-IT" sz="1400" dirty="0"/>
                        <a:t>0.76</a:t>
                      </a:r>
                    </a:p>
                  </a:txBody>
                  <a:tcPr anchor="ctr"/>
                </a:tc>
                <a:tc>
                  <a:txBody>
                    <a:bodyPr/>
                    <a:lstStyle/>
                    <a:p>
                      <a:pPr algn="ctr"/>
                      <a:r>
                        <a:rPr lang="it-IT" sz="1400" b="1" dirty="0"/>
                        <a:t>99.9 %</a:t>
                      </a:r>
                    </a:p>
                  </a:txBody>
                  <a:tcPr anchor="ctr"/>
                </a:tc>
                <a:tc>
                  <a:txBody>
                    <a:bodyPr/>
                    <a:lstStyle/>
                    <a:p>
                      <a:pPr algn="ctr"/>
                      <a:r>
                        <a:rPr lang="it-IT" sz="1400" dirty="0"/>
                        <a:t>13.13</a:t>
                      </a:r>
                    </a:p>
                  </a:txBody>
                  <a:tcPr anchor="ctr"/>
                </a:tc>
                <a:tc>
                  <a:txBody>
                    <a:bodyPr/>
                    <a:lstStyle/>
                    <a:p>
                      <a:pPr algn="ctr"/>
                      <a:r>
                        <a:rPr lang="it-IT" sz="1400" dirty="0"/>
                        <a:t>13.13</a:t>
                      </a:r>
                    </a:p>
                  </a:txBody>
                  <a:tcPr anchor="ctr"/>
                </a:tc>
                <a:tc>
                  <a:txBody>
                    <a:bodyPr/>
                    <a:lstStyle/>
                    <a:p>
                      <a:pPr algn="ctr"/>
                      <a:r>
                        <a:rPr lang="it-IT" sz="1400" dirty="0"/>
                        <a:t>1.14</a:t>
                      </a:r>
                    </a:p>
                  </a:txBody>
                  <a:tcPr anchor="ctr"/>
                </a:tc>
                <a:tc>
                  <a:txBody>
                    <a:bodyPr/>
                    <a:lstStyle/>
                    <a:p>
                      <a:pPr algn="ctr"/>
                      <a:r>
                        <a:rPr lang="it-IT" sz="1400" b="1" dirty="0"/>
                        <a:t>96.6 %</a:t>
                      </a:r>
                    </a:p>
                  </a:txBody>
                  <a:tcPr anchor="ctr"/>
                </a:tc>
                <a:extLst>
                  <a:ext uri="{0D108BD9-81ED-4DB2-BD59-A6C34878D82A}">
                    <a16:rowId xmlns:a16="http://schemas.microsoft.com/office/drawing/2014/main" val="2658941367"/>
                  </a:ext>
                </a:extLst>
              </a:tr>
            </a:tbl>
          </a:graphicData>
        </a:graphic>
      </p:graphicFrame>
      <p:sp>
        <p:nvSpPr>
          <p:cNvPr id="10" name="Sottotitolo 2">
            <a:extLst>
              <a:ext uri="{FF2B5EF4-FFF2-40B4-BE49-F238E27FC236}">
                <a16:creationId xmlns:a16="http://schemas.microsoft.com/office/drawing/2014/main" id="{E6F80F24-3237-F9A4-F9CB-D481923C7B18}"/>
              </a:ext>
            </a:extLst>
          </p:cNvPr>
          <p:cNvSpPr txBox="1">
            <a:spLocks/>
          </p:cNvSpPr>
          <p:nvPr/>
        </p:nvSpPr>
        <p:spPr>
          <a:xfrm>
            <a:off x="822034" y="4409954"/>
            <a:ext cx="10547928" cy="190957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400" dirty="0"/>
              <a:t>The implementation achieves excellent weak scaling (&gt;96% efficiency) for both boundary conditions. The periodic boundary overhead is acceptable and expected, as wrap-around communication requires additional network routing compared to fixed boundaries. </a:t>
            </a:r>
          </a:p>
          <a:p>
            <a:pPr algn="l">
              <a:spcBef>
                <a:spcPts val="600"/>
              </a:spcBef>
            </a:pPr>
            <a:r>
              <a:rPr lang="en-US" sz="1400" dirty="0"/>
              <a:t>Non-periodic boundaries maintain more consistent runtime across scales (coefficient of variation: 1.3%), while periodic boundaries show higher variability (2.6%), especially at 2 nodes where efficiency drops to 94.2%. This suggests that wrap-around communication introduces overhead that becomes more significant at smaller scales where boundary processes represent a larger fraction of total processes.</a:t>
            </a:r>
          </a:p>
          <a:p>
            <a:pPr algn="l">
              <a:spcBef>
                <a:spcPts val="600"/>
              </a:spcBef>
            </a:pPr>
            <a:r>
              <a:rPr lang="en-US" sz="1400" dirty="0"/>
              <a:t>Communication time increases with problem size for both boundary types, but the absolute increase is modest (0.34s for non-periodic, 0.70s for periodic over 16× scaling), demonstrating that the communication-computation overlap strategy effectively manages the growing communication volume.</a:t>
            </a:r>
          </a:p>
          <a:p>
            <a:pPr marL="171450" indent="-171450" algn="l">
              <a:lnSpc>
                <a:spcPct val="120000"/>
              </a:lnSpc>
              <a:spcBef>
                <a:spcPts val="0"/>
              </a:spcBef>
              <a:buFont typeface="Arial" panose="020B0604020202020204" pitchFamily="34" charset="0"/>
              <a:buChar char="•"/>
            </a:pPr>
            <a:endParaRPr lang="pt-BR" sz="1050" b="1" dirty="0"/>
          </a:p>
        </p:txBody>
      </p:sp>
    </p:spTree>
    <p:extLst>
      <p:ext uri="{BB962C8B-B14F-4D97-AF65-F5344CB8AC3E}">
        <p14:creationId xmlns:p14="http://schemas.microsoft.com/office/powerpoint/2010/main" val="580646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7D008-EE7F-1044-3BBE-60B433CB1126}"/>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16AAD117-C5F7-8DED-7BF8-B2AD9024348E}"/>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Main Achievements &amp; Conclusions</a:t>
            </a:r>
          </a:p>
        </p:txBody>
      </p:sp>
      <p:sp>
        <p:nvSpPr>
          <p:cNvPr id="2" name="CasellaDiTesto 1">
            <a:extLst>
              <a:ext uri="{FF2B5EF4-FFF2-40B4-BE49-F238E27FC236}">
                <a16:creationId xmlns:a16="http://schemas.microsoft.com/office/drawing/2014/main" id="{A17F3F04-2E93-317D-CFA3-6D514F0E8129}"/>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4E469977-33B5-494F-45B1-BCBB268C42D4}"/>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5A5EEA72-6A1D-4769-3D61-2B06A852D329}"/>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D26C525F-06BF-6217-CDE8-BA20C0F38F8B}"/>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27</a:t>
            </a:fld>
            <a:r>
              <a:rPr lang="en-GB" sz="1100" noProof="0" dirty="0"/>
              <a:t>/29</a:t>
            </a:r>
          </a:p>
        </p:txBody>
      </p:sp>
      <p:sp>
        <p:nvSpPr>
          <p:cNvPr id="10" name="Sottotitolo 2">
            <a:extLst>
              <a:ext uri="{FF2B5EF4-FFF2-40B4-BE49-F238E27FC236}">
                <a16:creationId xmlns:a16="http://schemas.microsoft.com/office/drawing/2014/main" id="{46301A2F-5ED2-2E94-B667-51245555C0C0}"/>
              </a:ext>
            </a:extLst>
          </p:cNvPr>
          <p:cNvSpPr txBox="1">
            <a:spLocks/>
          </p:cNvSpPr>
          <p:nvPr/>
        </p:nvSpPr>
        <p:spPr>
          <a:xfrm>
            <a:off x="822034" y="1562582"/>
            <a:ext cx="10547928" cy="475694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10000"/>
              </a:lnSpc>
              <a:buFont typeface="Arial" panose="020B0604020202020204" pitchFamily="34" charset="0"/>
              <a:buChar char="•"/>
            </a:pPr>
            <a:r>
              <a:rPr lang="en-US" sz="2000" b="1" dirty="0"/>
              <a:t>Scalability</a:t>
            </a:r>
            <a:r>
              <a:rPr lang="en-US" sz="2000" dirty="0"/>
              <a:t>: The implementation achieves Super-linear Scaling (up to 109.1% efficiency) in strong scaling and near-perfect weak scaling (&gt;96% efficiency).</a:t>
            </a:r>
          </a:p>
          <a:p>
            <a:pPr marL="285750" indent="-285750" algn="l">
              <a:lnSpc>
                <a:spcPct val="110000"/>
              </a:lnSpc>
              <a:buFont typeface="Arial" panose="020B0604020202020204" pitchFamily="34" charset="0"/>
              <a:buChar char="•"/>
            </a:pPr>
            <a:r>
              <a:rPr lang="en-US" sz="2000" b="1" dirty="0"/>
              <a:t>Overlap</a:t>
            </a:r>
            <a:r>
              <a:rPr lang="en-US" sz="2000" dirty="0"/>
              <a:t>: The communication-computation overlap strategy (interior/border split) reduced communication overhead to &lt;10% of total time.</a:t>
            </a:r>
          </a:p>
          <a:p>
            <a:pPr marL="285750" indent="-285750" algn="l">
              <a:lnSpc>
                <a:spcPct val="110000"/>
              </a:lnSpc>
              <a:buFont typeface="Arial" panose="020B0604020202020204" pitchFamily="34" charset="0"/>
              <a:buChar char="•"/>
            </a:pPr>
            <a:r>
              <a:rPr lang="en-US" sz="2000" b="1" dirty="0"/>
              <a:t>NUMA</a:t>
            </a:r>
            <a:r>
              <a:rPr lang="en-US" sz="2000" dirty="0"/>
              <a:t>: The adoption of a NUMA-aware first-touch allocation strategy ensured data locality and prevented performance degradation from cross-socket memory access, effectively maximizing local bandwidth utilization.</a:t>
            </a:r>
          </a:p>
          <a:p>
            <a:pPr marL="285750" indent="-285750" algn="l">
              <a:lnSpc>
                <a:spcPct val="110000"/>
              </a:lnSpc>
              <a:buFont typeface="Arial" panose="020B0604020202020204" pitchFamily="34" charset="0"/>
              <a:buChar char="•"/>
            </a:pPr>
            <a:r>
              <a:rPr lang="en-US" sz="2000" b="1" dirty="0"/>
              <a:t>OpenMP effect</a:t>
            </a:r>
            <a:r>
              <a:rPr lang="en-US" sz="2000" dirty="0"/>
              <a:t>: 18 pragmas led to a 20x speedup compared to non-parallelized code at 112 threads.</a:t>
            </a:r>
          </a:p>
          <a:p>
            <a:pPr marL="285750" indent="-285750" algn="l">
              <a:lnSpc>
                <a:spcPct val="110000"/>
              </a:lnSpc>
              <a:buFont typeface="Arial" panose="020B0604020202020204" pitchFamily="34" charset="0"/>
              <a:buChar char="•"/>
            </a:pPr>
            <a:r>
              <a:rPr lang="en-US" sz="2000" b="1" dirty="0"/>
              <a:t>Memory Wall</a:t>
            </a:r>
            <a:r>
              <a:rPr lang="en-US" sz="2000" dirty="0"/>
              <a:t>: Efficiency drops beyond 16-32 threads within a node, confirming the stencil's nature as a memory-bandwidth bound application.</a:t>
            </a:r>
          </a:p>
        </p:txBody>
      </p:sp>
    </p:spTree>
    <p:extLst>
      <p:ext uri="{BB962C8B-B14F-4D97-AF65-F5344CB8AC3E}">
        <p14:creationId xmlns:p14="http://schemas.microsoft.com/office/powerpoint/2010/main" val="2053032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F0ECF-890F-2CC4-18D4-097EE4968930}"/>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F987450C-37F3-6483-AF44-5E13B6522D83}"/>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References</a:t>
            </a:r>
          </a:p>
        </p:txBody>
      </p:sp>
      <p:sp>
        <p:nvSpPr>
          <p:cNvPr id="2" name="CasellaDiTesto 1">
            <a:extLst>
              <a:ext uri="{FF2B5EF4-FFF2-40B4-BE49-F238E27FC236}">
                <a16:creationId xmlns:a16="http://schemas.microsoft.com/office/drawing/2014/main" id="{0F36ABC2-4BBD-28E9-16D0-9CF824681734}"/>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49A1D1B5-E24B-D201-DB12-B0854DB47715}"/>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E3F980FA-4B4A-0F9B-378D-5A5D2E845752}"/>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AAA961ED-50ED-E3C0-2416-0DBF6BAE7E43}"/>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28</a:t>
            </a:fld>
            <a:r>
              <a:rPr lang="en-GB" sz="1100" noProof="0" dirty="0"/>
              <a:t>/29</a:t>
            </a:r>
          </a:p>
        </p:txBody>
      </p:sp>
      <p:sp>
        <p:nvSpPr>
          <p:cNvPr id="10" name="Sottotitolo 2">
            <a:extLst>
              <a:ext uri="{FF2B5EF4-FFF2-40B4-BE49-F238E27FC236}">
                <a16:creationId xmlns:a16="http://schemas.microsoft.com/office/drawing/2014/main" id="{7FF4D9FC-925A-92AF-90EA-9537DFF37012}"/>
              </a:ext>
            </a:extLst>
          </p:cNvPr>
          <p:cNvSpPr txBox="1">
            <a:spLocks/>
          </p:cNvSpPr>
          <p:nvPr/>
        </p:nvSpPr>
        <p:spPr>
          <a:xfrm>
            <a:off x="822034" y="1562582"/>
            <a:ext cx="10547928" cy="475694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10000"/>
              </a:lnSpc>
              <a:buFont typeface="Arial" panose="020B0604020202020204" pitchFamily="34" charset="0"/>
              <a:buChar char="•"/>
            </a:pPr>
            <a:r>
              <a:rPr lang="en-US" sz="2000" dirty="0"/>
              <a:t>Course Repository: </a:t>
            </a:r>
            <a:r>
              <a:rPr lang="en-US" sz="1800" dirty="0">
                <a:hlinkClick r:id="rId2"/>
              </a:rPr>
              <a:t>https://github.com/Foundations-of-HPC/High-Performance-Computing-2024</a:t>
            </a:r>
            <a:r>
              <a:rPr lang="en-US" sz="1800" dirty="0"/>
              <a:t> </a:t>
            </a:r>
            <a:endParaRPr lang="it-IT" sz="1800" dirty="0"/>
          </a:p>
          <a:p>
            <a:pPr marL="285750" indent="-285750" algn="l">
              <a:lnSpc>
                <a:spcPct val="110000"/>
              </a:lnSpc>
              <a:buFont typeface="Arial" panose="020B0604020202020204" pitchFamily="34" charset="0"/>
              <a:buChar char="•"/>
            </a:pPr>
            <a:r>
              <a:rPr lang="en-US" sz="2000" dirty="0"/>
              <a:t>Project Repository: </a:t>
            </a:r>
            <a:r>
              <a:rPr lang="it-IT" sz="1800" dirty="0">
                <a:hlinkClick r:id="rId3"/>
              </a:rPr>
              <a:t>https://github.com/egesia1/5-points-stencil</a:t>
            </a:r>
            <a:r>
              <a:rPr lang="it-IT" sz="1800" dirty="0"/>
              <a:t> </a:t>
            </a:r>
            <a:r>
              <a:rPr lang="en-US" sz="1800" dirty="0"/>
              <a:t> </a:t>
            </a:r>
            <a:endParaRPr lang="en-US" sz="2000" dirty="0"/>
          </a:p>
          <a:p>
            <a:pPr marL="285750" indent="-285750" algn="l">
              <a:lnSpc>
                <a:spcPct val="110000"/>
              </a:lnSpc>
              <a:buFont typeface="Arial" panose="020B0604020202020204" pitchFamily="34" charset="0"/>
              <a:buChar char="•"/>
            </a:pPr>
            <a:r>
              <a:rPr lang="en-US" sz="2000" dirty="0"/>
              <a:t>MPI Standard: </a:t>
            </a:r>
            <a:r>
              <a:rPr lang="en-US" sz="1800" dirty="0">
                <a:hlinkClick r:id="rId4"/>
              </a:rPr>
              <a:t>https://www.mpi-forum.org/docs/mpi-5.0/mpi50-report.pdf</a:t>
            </a:r>
            <a:r>
              <a:rPr lang="en-US" sz="1800" dirty="0"/>
              <a:t> </a:t>
            </a:r>
          </a:p>
          <a:p>
            <a:pPr marL="285750" indent="-285750" algn="l">
              <a:lnSpc>
                <a:spcPct val="110000"/>
              </a:lnSpc>
              <a:buFont typeface="Arial" panose="020B0604020202020204" pitchFamily="34" charset="0"/>
              <a:buChar char="•"/>
            </a:pPr>
            <a:r>
              <a:rPr lang="en-US" sz="2000" dirty="0"/>
              <a:t>OpenMP API: </a:t>
            </a:r>
            <a:r>
              <a:rPr lang="en-US" sz="1800" dirty="0">
                <a:hlinkClick r:id="rId5"/>
              </a:rPr>
              <a:t>https://www.openmp.org/</a:t>
            </a:r>
            <a:r>
              <a:rPr lang="en-US" sz="1800" dirty="0"/>
              <a:t> </a:t>
            </a:r>
          </a:p>
          <a:p>
            <a:pPr marL="285750" indent="-285750" algn="l">
              <a:lnSpc>
                <a:spcPct val="110000"/>
              </a:lnSpc>
              <a:buFont typeface="Arial" panose="020B0604020202020204" pitchFamily="34" charset="0"/>
              <a:buChar char="•"/>
            </a:pPr>
            <a:r>
              <a:rPr lang="en-US" sz="2000" dirty="0"/>
              <a:t>Leonardo HPC System: </a:t>
            </a:r>
            <a:r>
              <a:rPr lang="en-US" sz="1800" dirty="0">
                <a:hlinkClick r:id="rId6"/>
              </a:rPr>
              <a:t>https://leonardo-supercomputer.cineca.eu/it/leonardo-hpc-system/</a:t>
            </a:r>
            <a:r>
              <a:rPr lang="en-US" sz="1800" dirty="0"/>
              <a:t> </a:t>
            </a:r>
            <a:endParaRPr lang="en-US" sz="2000" dirty="0"/>
          </a:p>
          <a:p>
            <a:pPr marL="285750" indent="-285750" algn="l">
              <a:lnSpc>
                <a:spcPct val="11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323216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8AD31-1BBC-2D6A-99C5-7BA3BDCD6D03}"/>
            </a:ext>
          </a:extLst>
        </p:cNvPr>
        <p:cNvGrpSpPr/>
        <p:nvPr/>
      </p:nvGrpSpPr>
      <p:grpSpPr>
        <a:xfrm>
          <a:off x="0" y="0"/>
          <a:ext cx="0" cy="0"/>
          <a:chOff x="0" y="0"/>
          <a:chExt cx="0" cy="0"/>
        </a:xfrm>
      </p:grpSpPr>
      <p:sp>
        <p:nvSpPr>
          <p:cNvPr id="14" name="Titolo 1">
            <a:extLst>
              <a:ext uri="{FF2B5EF4-FFF2-40B4-BE49-F238E27FC236}">
                <a16:creationId xmlns:a16="http://schemas.microsoft.com/office/drawing/2014/main" id="{F78257DA-36EA-8AE5-E571-1466B9243F94}"/>
              </a:ext>
            </a:extLst>
          </p:cNvPr>
          <p:cNvSpPr>
            <a:spLocks noGrp="1"/>
          </p:cNvSpPr>
          <p:nvPr>
            <p:ph type="ctrTitle"/>
          </p:nvPr>
        </p:nvSpPr>
        <p:spPr>
          <a:xfrm>
            <a:off x="822034" y="607656"/>
            <a:ext cx="10547928" cy="641782"/>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GB" sz="4000" b="1" noProof="0" dirty="0"/>
              <a:t>That’s all folks,</a:t>
            </a:r>
          </a:p>
        </p:txBody>
      </p:sp>
      <p:sp>
        <p:nvSpPr>
          <p:cNvPr id="2" name="CasellaDiTesto 1">
            <a:extLst>
              <a:ext uri="{FF2B5EF4-FFF2-40B4-BE49-F238E27FC236}">
                <a16:creationId xmlns:a16="http://schemas.microsoft.com/office/drawing/2014/main" id="{1DEC3227-AB90-5910-A916-9133FF68A86C}"/>
              </a:ext>
            </a:extLst>
          </p:cNvPr>
          <p:cNvSpPr txBox="1"/>
          <p:nvPr/>
        </p:nvSpPr>
        <p:spPr>
          <a:xfrm>
            <a:off x="822034" y="6436110"/>
            <a:ext cx="2336801"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sz="1100" noProof="0" dirty="0"/>
              <a:t>Luca </a:t>
            </a:r>
            <a:r>
              <a:rPr lang="en-GB" sz="1100" noProof="0" dirty="0" err="1"/>
              <a:t>Ricatti</a:t>
            </a:r>
            <a:r>
              <a:rPr lang="en-GB" sz="1100" noProof="0" dirty="0"/>
              <a:t>            SM3800083</a:t>
            </a:r>
          </a:p>
        </p:txBody>
      </p:sp>
      <p:sp>
        <p:nvSpPr>
          <p:cNvPr id="4" name="CasellaDiTesto 3">
            <a:extLst>
              <a:ext uri="{FF2B5EF4-FFF2-40B4-BE49-F238E27FC236}">
                <a16:creationId xmlns:a16="http://schemas.microsoft.com/office/drawing/2014/main" id="{98876AEE-C9BA-4E23-C0FA-4E8C51FA93DF}"/>
              </a:ext>
            </a:extLst>
          </p:cNvPr>
          <p:cNvSpPr txBox="1"/>
          <p:nvPr/>
        </p:nvSpPr>
        <p:spPr>
          <a:xfrm>
            <a:off x="3158835" y="6436111"/>
            <a:ext cx="5874327" cy="2616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Distributed Stencil Performance Analysis</a:t>
            </a:r>
          </a:p>
        </p:txBody>
      </p:sp>
      <p:sp>
        <p:nvSpPr>
          <p:cNvPr id="5" name="CasellaDiTesto 4">
            <a:extLst>
              <a:ext uri="{FF2B5EF4-FFF2-40B4-BE49-F238E27FC236}">
                <a16:creationId xmlns:a16="http://schemas.microsoft.com/office/drawing/2014/main" id="{EC9C5FFC-2496-F174-F881-26A9EFE75A83}"/>
              </a:ext>
            </a:extLst>
          </p:cNvPr>
          <p:cNvSpPr txBox="1"/>
          <p:nvPr/>
        </p:nvSpPr>
        <p:spPr>
          <a:xfrm>
            <a:off x="9033162" y="6436110"/>
            <a:ext cx="1634836"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GB" sz="1100" noProof="0" dirty="0"/>
              <a:t>23/01/2026</a:t>
            </a:r>
          </a:p>
        </p:txBody>
      </p:sp>
      <p:sp>
        <p:nvSpPr>
          <p:cNvPr id="11" name="CasellaDiTesto 10">
            <a:extLst>
              <a:ext uri="{FF2B5EF4-FFF2-40B4-BE49-F238E27FC236}">
                <a16:creationId xmlns:a16="http://schemas.microsoft.com/office/drawing/2014/main" id="{2B43FDD8-A295-C152-4797-D90A1975A722}"/>
              </a:ext>
            </a:extLst>
          </p:cNvPr>
          <p:cNvSpPr txBox="1"/>
          <p:nvPr/>
        </p:nvSpPr>
        <p:spPr>
          <a:xfrm>
            <a:off x="10667998" y="6436110"/>
            <a:ext cx="701964" cy="26161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r"/>
            <a:fld id="{6E24B826-DE01-4925-9876-F463BD0CA1EF}" type="slidenum">
              <a:rPr lang="en-GB" sz="1100" noProof="0" smtClean="0"/>
              <a:pPr algn="r"/>
              <a:t>29</a:t>
            </a:fld>
            <a:r>
              <a:rPr lang="en-GB" sz="1100" noProof="0" dirty="0"/>
              <a:t>/29</a:t>
            </a:r>
          </a:p>
        </p:txBody>
      </p:sp>
      <p:pic>
        <p:nvPicPr>
          <p:cNvPr id="6" name="Immagine 5" descr="Immagine che contiene testo, Carattere, schermata, Elementi grafici&#10;&#10;Il contenuto generato dall'IA potrebbe non essere corretto.">
            <a:extLst>
              <a:ext uri="{FF2B5EF4-FFF2-40B4-BE49-F238E27FC236}">
                <a16:creationId xmlns:a16="http://schemas.microsoft.com/office/drawing/2014/main" id="{17FCEE3A-2030-A170-35DC-D5ADB1EA6797}"/>
              </a:ext>
            </a:extLst>
          </p:cNvPr>
          <p:cNvPicPr>
            <a:picLocks noChangeAspect="1"/>
          </p:cNvPicPr>
          <p:nvPr/>
        </p:nvPicPr>
        <p:blipFill>
          <a:blip r:embed="rId2"/>
          <a:stretch>
            <a:fillRect/>
          </a:stretch>
        </p:blipFill>
        <p:spPr>
          <a:xfrm>
            <a:off x="822034" y="1493133"/>
            <a:ext cx="10530248" cy="4597205"/>
          </a:xfrm>
          <a:prstGeom prst="rect">
            <a:avLst/>
          </a:prstGeom>
        </p:spPr>
      </p:pic>
    </p:spTree>
    <p:extLst>
      <p:ext uri="{BB962C8B-B14F-4D97-AF65-F5344CB8AC3E}">
        <p14:creationId xmlns:p14="http://schemas.microsoft.com/office/powerpoint/2010/main" val="257155199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3E132A417382F4C92CCE0743FBF43AD" ma:contentTypeVersion="11" ma:contentTypeDescription="Creare un nuovo documento." ma:contentTypeScope="" ma:versionID="27b87a89cc5cbe4089fbfd47ea129f81">
  <xsd:schema xmlns:xsd="http://www.w3.org/2001/XMLSchema" xmlns:xs="http://www.w3.org/2001/XMLSchema" xmlns:p="http://schemas.microsoft.com/office/2006/metadata/properties" xmlns:ns3="e4f2febb-3778-4afa-a626-758cec3475a9" xmlns:ns4="0f1c49cf-55a1-4f76-b211-be38475a8443" targetNamespace="http://schemas.microsoft.com/office/2006/metadata/properties" ma:root="true" ma:fieldsID="a2b0a4200062b327505636fd183f9a90" ns3:_="" ns4:_="">
    <xsd:import namespace="e4f2febb-3778-4afa-a626-758cec3475a9"/>
    <xsd:import namespace="0f1c49cf-55a1-4f76-b211-be38475a8443"/>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SearchProperties" minOccurs="0"/>
                <xsd:element ref="ns3:MediaServiceObjectDetectorVersion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f2febb-3778-4afa-a626-758cec3475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_activity" ma:index="18"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f1c49cf-55a1-4f76-b211-be38475a8443" elementFormDefault="qualified">
    <xsd:import namespace="http://schemas.microsoft.com/office/2006/documentManagement/types"/>
    <xsd:import namespace="http://schemas.microsoft.com/office/infopath/2007/PartnerControls"/>
    <xsd:element name="SharedWithUsers" ma:index="12"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Condiviso con dettagli" ma:internalName="SharedWithDetails" ma:readOnly="true">
      <xsd:simpleType>
        <xsd:restriction base="dms:Note">
          <xsd:maxLength value="255"/>
        </xsd:restriction>
      </xsd:simpleType>
    </xsd:element>
    <xsd:element name="SharingHintHash" ma:index="14"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4f2febb-3778-4afa-a626-758cec3475a9" xsi:nil="true"/>
  </documentManagement>
</p:properties>
</file>

<file path=customXml/itemProps1.xml><?xml version="1.0" encoding="utf-8"?>
<ds:datastoreItem xmlns:ds="http://schemas.openxmlformats.org/officeDocument/2006/customXml" ds:itemID="{5292CBA0-593C-4305-8522-84AE55DF85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f2febb-3778-4afa-a626-758cec3475a9"/>
    <ds:schemaRef ds:uri="0f1c49cf-55a1-4f76-b211-be38475a84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8C2EBC0-47C4-4EB7-AA5B-8DC3AD2BF559}">
  <ds:schemaRefs>
    <ds:schemaRef ds:uri="http://schemas.microsoft.com/sharepoint/v3/contenttype/forms"/>
  </ds:schemaRefs>
</ds:datastoreItem>
</file>

<file path=customXml/itemProps3.xml><?xml version="1.0" encoding="utf-8"?>
<ds:datastoreItem xmlns:ds="http://schemas.openxmlformats.org/officeDocument/2006/customXml" ds:itemID="{146182DE-956E-42F4-AD2D-DE10CDDBD4BA}">
  <ds:schemaRef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 ds:uri="http://purl.org/dc/elements/1.1/"/>
    <ds:schemaRef ds:uri="e4f2febb-3778-4afa-a626-758cec3475a9"/>
    <ds:schemaRef ds:uri="0f1c49cf-55a1-4f76-b211-be38475a8443"/>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1560</TotalTime>
  <Words>2661</Words>
  <Application>Microsoft Office PowerPoint</Application>
  <PresentationFormat>Widescreen</PresentationFormat>
  <Paragraphs>349</Paragraphs>
  <Slides>29</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29</vt:i4>
      </vt:variant>
    </vt:vector>
  </HeadingPairs>
  <TitlesOfParts>
    <vt:vector size="34" baseType="lpstr">
      <vt:lpstr>Aptos</vt:lpstr>
      <vt:lpstr>Aptos Display</vt:lpstr>
      <vt:lpstr>Arial</vt:lpstr>
      <vt:lpstr>Courier New</vt:lpstr>
      <vt:lpstr>Tema di Office</vt:lpstr>
      <vt:lpstr>Distributed Stencil Performance Analysis</vt:lpstr>
      <vt:lpstr>Goal of the Assignment</vt:lpstr>
      <vt:lpstr>The 5-point stencil computation</vt:lpstr>
      <vt:lpstr>Parallelization strategy: Domain Decomposition</vt:lpstr>
      <vt:lpstr>Parallelization strategy: Domain Decomposition</vt:lpstr>
      <vt:lpstr>Parallelization strategy: Domain Decomposition</vt:lpstr>
      <vt:lpstr>Halo exchange: border computation</vt:lpstr>
      <vt:lpstr>Communication-Computation Overlap</vt:lpstr>
      <vt:lpstr>Halo Exchange Phases 1/4</vt:lpstr>
      <vt:lpstr>Halo Exchange Phases 2/4</vt:lpstr>
      <vt:lpstr>Halo Exchange Phases 3/4</vt:lpstr>
      <vt:lpstr>Halo Exchange Phases 4/4</vt:lpstr>
      <vt:lpstr>Parallel Stencil: GANTT Chart</vt:lpstr>
      <vt:lpstr>#pragma omp parallel for schedule(static) 1/5</vt:lpstr>
      <vt:lpstr>#pragma omp parallel for schedule(static) 2/5</vt:lpstr>
      <vt:lpstr>#pragma omp parallel for schedule(static) 3/5</vt:lpstr>
      <vt:lpstr>#pragma omp parallel for schedule(static) 4/5</vt:lpstr>
      <vt:lpstr>#pragma omp parallel for schedule(static) 5/5</vt:lpstr>
      <vt:lpstr>#pragma omp – Serial implementation</vt:lpstr>
      <vt:lpstr>Strong Scaling Results (1/4)</vt:lpstr>
      <vt:lpstr>Strong Scaling Results (2/4)</vt:lpstr>
      <vt:lpstr>Strong Scaling Results (3/4)</vt:lpstr>
      <vt:lpstr>Strong Scaling Results (4/4)</vt:lpstr>
      <vt:lpstr>Weak Scaling Results (1/3)</vt:lpstr>
      <vt:lpstr>Weak Scaling Results (2/3)</vt:lpstr>
      <vt:lpstr>Weak Scaling Results (3/3)</vt:lpstr>
      <vt:lpstr>Main Achievements &amp; Conclusions</vt:lpstr>
      <vt:lpstr>References</vt:lpstr>
      <vt:lpstr>That’s all folks,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RICATTI LUCA [SM3800083]</dc:creator>
  <cp:lastModifiedBy>RICATTI LUCA [SM3800083]</cp:lastModifiedBy>
  <cp:revision>2</cp:revision>
  <dcterms:created xsi:type="dcterms:W3CDTF">2026-01-21T22:38:44Z</dcterms:created>
  <dcterms:modified xsi:type="dcterms:W3CDTF">2026-01-23T00:39:10Z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0x01010013E132A417382F4C92CCE0743FBF43AD</vt:lpwstr>
  </property>
</Properties>
</file>